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4" r:id="rId6"/>
    <p:sldId id="905" r:id="rId7"/>
    <p:sldId id="902" r:id="rId8"/>
    <p:sldId id="903" r:id="rId9"/>
    <p:sldId id="906" r:id="rId10"/>
    <p:sldId id="258" r:id="rId11"/>
    <p:sldId id="9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5098" autoAdjust="0"/>
  </p:normalViewPr>
  <p:slideViewPr>
    <p:cSldViewPr snapToGrid="0">
      <p:cViewPr varScale="1">
        <p:scale>
          <a:sx n="81" d="100"/>
          <a:sy n="81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71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90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1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71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37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Date 14-08-2026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 14-08-2026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278392"/>
              </p:ext>
            </p:extLst>
          </p:nvPr>
        </p:nvGraphicFramePr>
        <p:xfrm>
          <a:off x="8193271" y="4898509"/>
          <a:ext cx="370205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Somu Vaishnavi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- 2420030024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Maineni Srihitha 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- 2420030405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196189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SkillBridge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– An Agentic Career Readiness and Opportunity Orchestration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en-IN" sz="3600" dirty="0"/>
              <a:t>Project Design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65CABD-E26C-B84E-4504-F170E70E42A2}"/>
              </a:ext>
            </a:extLst>
          </p:cNvPr>
          <p:cNvSpPr txBox="1"/>
          <p:nvPr/>
        </p:nvSpPr>
        <p:spPr>
          <a:xfrm>
            <a:off x="1074656" y="890898"/>
            <a:ext cx="85218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SkillBridge</a:t>
            </a:r>
            <a:r>
              <a:rPr lang="en-IN" dirty="0"/>
              <a:t> AI is designed as a </a:t>
            </a:r>
            <a:r>
              <a:rPr lang="en-IN" b="1" dirty="0"/>
              <a:t>modular, service-oriented platform</a:t>
            </a:r>
            <a:r>
              <a:rPr lang="en-IN" dirty="0"/>
              <a:t> in which individual career-readiness functions are implemented as independent services.</a:t>
            </a:r>
          </a:p>
          <a:p>
            <a:r>
              <a:rPr lang="en-IN" dirty="0"/>
              <a:t>The system is divided into three major layers:</a:t>
            </a:r>
          </a:p>
          <a:p>
            <a:r>
              <a:rPr lang="en-IN" b="1" dirty="0"/>
              <a:t>1. Presentation Layer</a:t>
            </a:r>
            <a:endParaRPr lang="en-IN" dirty="0"/>
          </a:p>
          <a:p>
            <a:pPr lvl="0"/>
            <a:r>
              <a:rPr lang="en-IN" dirty="0"/>
              <a:t>Student interface </a:t>
            </a:r>
          </a:p>
          <a:p>
            <a:pPr lvl="0"/>
            <a:r>
              <a:rPr lang="en-IN" dirty="0"/>
              <a:t>Career dashboard </a:t>
            </a:r>
          </a:p>
          <a:p>
            <a:pPr lvl="0"/>
            <a:r>
              <a:rPr lang="en-IN" dirty="0"/>
              <a:t>Skill and progress visualization </a:t>
            </a:r>
          </a:p>
          <a:p>
            <a:r>
              <a:rPr lang="en-IN" b="1" dirty="0"/>
              <a:t>2. Application Layer</a:t>
            </a:r>
            <a:endParaRPr lang="en-IN" dirty="0"/>
          </a:p>
          <a:p>
            <a:pPr lvl="0"/>
            <a:r>
              <a:rPr lang="en-IN" dirty="0"/>
              <a:t>API Gateway </a:t>
            </a:r>
          </a:p>
          <a:p>
            <a:pPr lvl="0"/>
            <a:r>
              <a:rPr lang="en-IN" dirty="0"/>
              <a:t>Authentication </a:t>
            </a:r>
          </a:p>
          <a:p>
            <a:pPr lvl="0"/>
            <a:r>
              <a:rPr lang="en-IN" dirty="0"/>
              <a:t>Microservices </a:t>
            </a:r>
          </a:p>
          <a:p>
            <a:pPr lvl="0"/>
            <a:r>
              <a:rPr lang="en-IN" dirty="0"/>
              <a:t>AI agent orchestration </a:t>
            </a:r>
          </a:p>
          <a:p>
            <a:r>
              <a:rPr lang="en-IN" b="1" dirty="0"/>
              <a:t>3. Data &amp; Communication Layer</a:t>
            </a:r>
            <a:endParaRPr lang="en-IN" dirty="0"/>
          </a:p>
          <a:p>
            <a:pPr lvl="0"/>
            <a:r>
              <a:rPr lang="en-IN" dirty="0"/>
              <a:t>Databases </a:t>
            </a:r>
          </a:p>
          <a:p>
            <a:pPr lvl="0"/>
            <a:r>
              <a:rPr lang="en-IN" dirty="0"/>
              <a:t>REST APIs </a:t>
            </a:r>
          </a:p>
          <a:p>
            <a:pPr lvl="0"/>
            <a:r>
              <a:rPr lang="en-IN" dirty="0"/>
              <a:t>Apache Kafka </a:t>
            </a:r>
          </a:p>
          <a:p>
            <a:pPr lvl="0"/>
            <a:r>
              <a:rPr lang="en-IN" dirty="0"/>
              <a:t>Event-driven communication </a:t>
            </a:r>
          </a:p>
          <a:p>
            <a:r>
              <a:rPr lang="en-IN" b="1" dirty="0"/>
              <a:t>Design Goal:</a:t>
            </a:r>
            <a:br>
              <a:rPr lang="en-IN" dirty="0"/>
            </a:br>
            <a:r>
              <a:rPr lang="en-IN" dirty="0"/>
              <a:t>To make individual components independently manageable, scalable and replaceable.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2916025" y="-23781"/>
            <a:ext cx="60960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9AC8F-F6F7-5FAD-D86F-667C25CE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62D6E-05C2-43C8-69B8-CC1E2EC12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83" y="537335"/>
            <a:ext cx="11142832" cy="632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4534B-BEA1-B664-D46E-E7171F0A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6292F6-0778-4614-8C01-6EB88031537F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Component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9B9B8E-3E71-6189-F2C7-DF397698A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E1173-649B-744C-F650-FC469150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F98236-FFCB-1E8C-246E-F3FE6C024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871857"/>
              </p:ext>
            </p:extLst>
          </p:nvPr>
        </p:nvGraphicFramePr>
        <p:xfrm>
          <a:off x="1156837" y="1470673"/>
          <a:ext cx="10425080" cy="437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540">
                  <a:extLst>
                    <a:ext uri="{9D8B030D-6E8A-4147-A177-3AD203B41FA5}">
                      <a16:colId xmlns:a16="http://schemas.microsoft.com/office/drawing/2014/main" val="227287784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3780752441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Component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Responsibility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3779248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Frontend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 interaction and dashboard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413150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API Gateway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Central entry point for requests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02638785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User/Profile Service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Manages student information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3621459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Skill Assessment Service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Evaluates student competencies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0336145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Skill Gap Service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Identifies missing career-specific skills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6400360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Career Planning Service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Generates personalized action plans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7417587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Progress Service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Tracks learning and performance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23912734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Opportunity Service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Processes relevant opportunities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674391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 Agents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Perform intelligent analysis and decision-making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6479253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Kafka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Handles asynchronous event communication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14545077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Database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Stores service-specific data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2228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29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52EB2-101D-3FBB-7357-4CEE2A4C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D82918-E7B5-BC61-A388-C6F33EFDF619}"/>
              </a:ext>
            </a:extLst>
          </p:cNvPr>
          <p:cNvSpPr txBox="1"/>
          <p:nvPr/>
        </p:nvSpPr>
        <p:spPr>
          <a:xfrm>
            <a:off x="2897171" y="-11891"/>
            <a:ext cx="60960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3600" dirty="0"/>
              <a:t>Development Methodology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8A728-FB35-C3AB-4DB4-0E3080653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A2722-DE2B-7F1E-891F-666A0F6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85F08-570B-E519-45B4-0FA3A84A5F26}"/>
              </a:ext>
            </a:extLst>
          </p:cNvPr>
          <p:cNvSpPr txBox="1"/>
          <p:nvPr/>
        </p:nvSpPr>
        <p:spPr>
          <a:xfrm>
            <a:off x="784869" y="490383"/>
            <a:ext cx="946451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Requirement Analysis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System Design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Service Decomposition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API Development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AI Agent Development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Service Integration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Testing &amp; Validation</a:t>
            </a:r>
          </a:p>
          <a:p>
            <a:r>
              <a:rPr lang="en-IN" sz="1800" dirty="0"/>
              <a:t>        ↓</a:t>
            </a:r>
          </a:p>
          <a:p>
            <a:r>
              <a:rPr lang="en-IN" sz="1800" dirty="0"/>
              <a:t>System Refinement</a:t>
            </a:r>
          </a:p>
          <a:p>
            <a:endParaRPr lang="en-IN" sz="1800" dirty="0"/>
          </a:p>
          <a:p>
            <a:r>
              <a:rPr lang="en-IN" sz="1800" b="1" dirty="0"/>
              <a:t>Methodology Characteristics</a:t>
            </a:r>
          </a:p>
          <a:p>
            <a:pPr lvl="0"/>
            <a:r>
              <a:rPr lang="en-IN" sz="1800" b="1" dirty="0"/>
              <a:t>Modular Development</a:t>
            </a:r>
            <a:r>
              <a:rPr lang="en-IN" sz="1800" dirty="0"/>
              <a:t> — each service is developed independently. </a:t>
            </a:r>
          </a:p>
          <a:p>
            <a:pPr lvl="0"/>
            <a:r>
              <a:rPr lang="en-IN" sz="1800" b="1" dirty="0"/>
              <a:t>Incremental Integration</a:t>
            </a:r>
            <a:r>
              <a:rPr lang="en-IN" sz="1800" dirty="0"/>
              <a:t> — services are integrated progressively. </a:t>
            </a:r>
          </a:p>
          <a:p>
            <a:pPr lvl="0"/>
            <a:r>
              <a:rPr lang="en-IN" sz="1800" b="1" dirty="0"/>
              <a:t>API-First Communication</a:t>
            </a:r>
            <a:r>
              <a:rPr lang="en-IN" sz="1800" dirty="0"/>
              <a:t> — services communicate through defined APIs. </a:t>
            </a:r>
          </a:p>
          <a:p>
            <a:pPr lvl="0"/>
            <a:r>
              <a:rPr lang="en-IN" sz="1800" b="1" dirty="0"/>
              <a:t>Event-Driven Processing</a:t>
            </a:r>
            <a:r>
              <a:rPr lang="en-IN" sz="1800" dirty="0"/>
              <a:t> — Kafka is used for asynchronous events. </a:t>
            </a:r>
          </a:p>
          <a:p>
            <a:pPr lvl="0"/>
            <a:r>
              <a:rPr lang="en-IN" sz="1800" b="1" dirty="0"/>
              <a:t>Continuous Testing</a:t>
            </a:r>
            <a:r>
              <a:rPr lang="en-IN" sz="1800" dirty="0"/>
              <a:t> — individual components are tested before integration.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4718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841987" y="0"/>
            <a:ext cx="4508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System Execution Workflow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603DB8-F673-E304-A43E-2116BA9A3B4F}"/>
              </a:ext>
            </a:extLst>
          </p:cNvPr>
          <p:cNvSpPr txBox="1"/>
          <p:nvPr/>
        </p:nvSpPr>
        <p:spPr>
          <a:xfrm>
            <a:off x="1150070" y="622550"/>
            <a:ext cx="670245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 Profile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Career Goal Selection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Skill Assessment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Skill Gap Analysis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Personalized Plan Generation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Student Performs Activities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Progress Evaluation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Plan Adaptation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Opportunity Analysis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Readiness Evaluation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Career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699208" y="13652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Service Communication Methodology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C609C-10F2-3D6D-7A9E-B148D57D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1C95E-5159-5ECA-3DD1-A6C1BE997BDB}"/>
              </a:ext>
            </a:extLst>
          </p:cNvPr>
          <p:cNvSpPr txBox="1"/>
          <p:nvPr/>
        </p:nvSpPr>
        <p:spPr>
          <a:xfrm>
            <a:off x="1111682" y="1904400"/>
            <a:ext cx="1068507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Synchronous Communication</a:t>
            </a:r>
            <a:endParaRPr lang="en-IN" sz="2500" dirty="0"/>
          </a:p>
          <a:p>
            <a:pPr lvl="0"/>
            <a:r>
              <a:rPr lang="en-IN" sz="2500" dirty="0"/>
              <a:t>REST APIs </a:t>
            </a:r>
          </a:p>
          <a:p>
            <a:pPr lvl="0"/>
            <a:r>
              <a:rPr lang="en-IN" sz="2500" dirty="0"/>
              <a:t>Request-response interaction </a:t>
            </a:r>
          </a:p>
          <a:p>
            <a:pPr lvl="0"/>
            <a:r>
              <a:rPr lang="en-IN" sz="2500" dirty="0"/>
              <a:t>Used when an immediate response is required </a:t>
            </a:r>
          </a:p>
          <a:p>
            <a:pPr lvl="0"/>
            <a:endParaRPr lang="en-IN" sz="2500" dirty="0"/>
          </a:p>
          <a:p>
            <a:r>
              <a:rPr lang="en-IN" sz="2500" b="1" dirty="0"/>
              <a:t>Asynchronous Communication</a:t>
            </a:r>
            <a:endParaRPr lang="en-IN" sz="2500" dirty="0"/>
          </a:p>
          <a:p>
            <a:pPr lvl="0"/>
            <a:r>
              <a:rPr lang="en-IN" sz="2500" dirty="0"/>
              <a:t>Apache Kafka </a:t>
            </a:r>
          </a:p>
          <a:p>
            <a:pPr lvl="0"/>
            <a:r>
              <a:rPr lang="en-IN" sz="2500" dirty="0"/>
              <a:t>Event-based communication </a:t>
            </a:r>
          </a:p>
          <a:p>
            <a:pPr lvl="0"/>
            <a:r>
              <a:rPr lang="en-IN" sz="2500" dirty="0"/>
              <a:t>Used for background processing and service coordination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1C2A-4C3C-F7DE-6690-D2ADB029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744428-A3F2-A6DA-05D1-E71C75B6A811}"/>
              </a:ext>
            </a:extLst>
          </p:cNvPr>
          <p:cNvSpPr txBox="1"/>
          <p:nvPr/>
        </p:nvSpPr>
        <p:spPr>
          <a:xfrm>
            <a:off x="2462753" y="4880"/>
            <a:ext cx="7519447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3600" dirty="0"/>
              <a:t>Technology Stack &amp; Implementation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7FEAA4-D9BB-22C2-7904-39E20FE17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6B0C-EECC-C6DE-457A-BC3B103E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B1CB8-72CC-1009-6530-7494F0433701}"/>
              </a:ext>
            </a:extLst>
          </p:cNvPr>
          <p:cNvSpPr txBox="1"/>
          <p:nvPr/>
        </p:nvSpPr>
        <p:spPr>
          <a:xfrm>
            <a:off x="609479" y="745098"/>
            <a:ext cx="114694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Technology Stack</a:t>
            </a:r>
          </a:p>
          <a:p>
            <a:r>
              <a:rPr lang="en-IN" b="1" dirty="0"/>
              <a:t>Frontend</a:t>
            </a:r>
            <a:endParaRPr lang="en-IN" dirty="0"/>
          </a:p>
          <a:p>
            <a:pPr lvl="0"/>
            <a:r>
              <a:rPr lang="en-IN" dirty="0"/>
              <a:t>HTML </a:t>
            </a:r>
          </a:p>
          <a:p>
            <a:pPr lvl="0"/>
            <a:r>
              <a:rPr lang="en-IN" dirty="0"/>
              <a:t>CSS </a:t>
            </a:r>
          </a:p>
          <a:p>
            <a:pPr lvl="0"/>
            <a:r>
              <a:rPr lang="en-IN" dirty="0"/>
              <a:t>JavaScript / React </a:t>
            </a:r>
            <a:r>
              <a:rPr lang="en-IN" i="1" dirty="0"/>
              <a:t>(use only what you actually implemented)</a:t>
            </a:r>
            <a:r>
              <a:rPr lang="en-IN" dirty="0"/>
              <a:t> </a:t>
            </a:r>
          </a:p>
          <a:p>
            <a:r>
              <a:rPr lang="en-IN" b="1" dirty="0"/>
              <a:t>Backend</a:t>
            </a:r>
            <a:endParaRPr lang="en-IN" dirty="0"/>
          </a:p>
          <a:p>
            <a:pPr lvl="0"/>
            <a:r>
              <a:rPr lang="en-IN" dirty="0"/>
              <a:t>Java / Spring Boot </a:t>
            </a:r>
            <a:r>
              <a:rPr lang="en-IN" i="1" dirty="0"/>
              <a:t>(if this is what you are implementing)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REST APIs </a:t>
            </a:r>
          </a:p>
          <a:p>
            <a:r>
              <a:rPr lang="en-IN" b="1" dirty="0"/>
              <a:t>Architecture</a:t>
            </a:r>
            <a:endParaRPr lang="en-IN" dirty="0"/>
          </a:p>
          <a:p>
            <a:pPr lvl="0"/>
            <a:r>
              <a:rPr lang="en-IN" dirty="0"/>
              <a:t>Spring Cloud / Microservices </a:t>
            </a:r>
          </a:p>
          <a:p>
            <a:pPr lvl="0"/>
            <a:r>
              <a:rPr lang="en-IN" dirty="0"/>
              <a:t>API Gateway </a:t>
            </a:r>
          </a:p>
          <a:p>
            <a:pPr lvl="0"/>
            <a:r>
              <a:rPr lang="en-IN" dirty="0"/>
              <a:t>Service Discovery </a:t>
            </a:r>
          </a:p>
          <a:p>
            <a:r>
              <a:rPr lang="en-IN" b="1" dirty="0"/>
              <a:t>AI</a:t>
            </a:r>
            <a:endParaRPr lang="en-IN" dirty="0"/>
          </a:p>
          <a:p>
            <a:pPr lvl="0"/>
            <a:r>
              <a:rPr lang="en-IN" dirty="0"/>
              <a:t>LLM / Agentic AI framework </a:t>
            </a:r>
            <a:r>
              <a:rPr lang="en-IN" i="1" dirty="0"/>
              <a:t>(put your actual framework)</a:t>
            </a:r>
            <a:r>
              <a:rPr lang="en-IN" dirty="0"/>
              <a:t> </a:t>
            </a:r>
          </a:p>
          <a:p>
            <a:r>
              <a:rPr lang="en-IN" b="1" dirty="0"/>
              <a:t>Messaging</a:t>
            </a:r>
            <a:endParaRPr lang="en-IN" dirty="0"/>
          </a:p>
          <a:p>
            <a:pPr lvl="0"/>
            <a:r>
              <a:rPr lang="en-IN" dirty="0"/>
              <a:t>Apache Kafka </a:t>
            </a:r>
          </a:p>
          <a:p>
            <a:r>
              <a:rPr lang="en-IN" b="1" dirty="0"/>
              <a:t>Database</a:t>
            </a:r>
            <a:endParaRPr lang="en-IN" dirty="0"/>
          </a:p>
          <a:p>
            <a:pPr lvl="0"/>
            <a:r>
              <a:rPr lang="en-IN" dirty="0"/>
              <a:t>PostgreSQL / your actual database </a:t>
            </a:r>
          </a:p>
          <a:p>
            <a:r>
              <a:rPr lang="en-IN" b="1" dirty="0"/>
              <a:t>Security</a:t>
            </a:r>
            <a:endParaRPr lang="en-IN" dirty="0"/>
          </a:p>
          <a:p>
            <a:pPr lvl="0"/>
            <a:r>
              <a:rPr lang="en-IN" dirty="0"/>
              <a:t>JWT </a:t>
            </a:r>
          </a:p>
          <a:p>
            <a:pPr lvl="0"/>
            <a:r>
              <a:rPr lang="en-IN" dirty="0"/>
              <a:t>Role-Based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130948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Technical Validation &amp; Testing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D6F68-EB59-FEE8-F640-39995D8F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38B8D-115D-75EC-C540-C444CF6A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75AA-0762-8AC2-8D47-5BF6B20F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39A0D1-E6E4-0CCB-3ED8-CF6CF38310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218214"/>
          <a:ext cx="1051560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801075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87376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20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Verify request and response correctness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19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Service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individual microservices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93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Verify data storage and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99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Verify communication between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497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Kafka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Verify event production and consumption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87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Output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relevance and consistency of generated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955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authentication and authorization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33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Verify handling of invalid inputs and service failures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642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F9C7-8F84-42F8-E5C1-F78CBC80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1ECB7E-B5A2-FAB1-06CA-088743998D98}"/>
              </a:ext>
            </a:extLst>
          </p:cNvPr>
          <p:cNvSpPr txBox="1"/>
          <p:nvPr/>
        </p:nvSpPr>
        <p:spPr>
          <a:xfrm>
            <a:off x="2478993" y="307505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9C5E1-FC64-103D-F383-F7B4C090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28165-56C5-F7B8-D030-FA465C6C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14-08-2026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A73E4-443E-E7DC-3F1B-753B7FE0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0750F-CE7D-8ABD-048D-3B094DF6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86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527</Words>
  <Application>Microsoft Office PowerPoint</Application>
  <PresentationFormat>Widescreen</PresentationFormat>
  <Paragraphs>175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Srihitha Maineni</cp:lastModifiedBy>
  <cp:revision>38</cp:revision>
  <dcterms:created xsi:type="dcterms:W3CDTF">2026-08-08T06:33:56Z</dcterms:created>
  <dcterms:modified xsi:type="dcterms:W3CDTF">2026-09-23T14:07:41Z</dcterms:modified>
</cp:coreProperties>
</file>