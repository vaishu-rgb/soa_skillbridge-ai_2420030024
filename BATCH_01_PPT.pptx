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62" r:id="rId3"/>
    <p:sldId id="707" r:id="rId4"/>
    <p:sldId id="257" r:id="rId5"/>
    <p:sldId id="904" r:id="rId6"/>
    <p:sldId id="905" r:id="rId7"/>
    <p:sldId id="902" r:id="rId8"/>
    <p:sldId id="903" r:id="rId9"/>
    <p:sldId id="906" r:id="rId10"/>
    <p:sldId id="258" r:id="rId11"/>
    <p:sldId id="259" r:id="rId12"/>
    <p:sldId id="260" r:id="rId13"/>
    <p:sldId id="908" r:id="rId14"/>
    <p:sldId id="909" r:id="rId15"/>
    <p:sldId id="91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C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F564F9-CDAE-476F-B757-AF2E93A066D1}" v="2" dt="2026-08-20T06:13:43.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5033" autoAdjust="0"/>
  </p:normalViewPr>
  <p:slideViewPr>
    <p:cSldViewPr snapToGrid="0">
      <p:cViewPr varScale="1">
        <p:scale>
          <a:sx n="78" d="100"/>
          <a:sy n="78" d="100"/>
        </p:scale>
        <p:origin x="86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i Somu" userId="8693380095fb6e2f" providerId="LiveId" clId="{E643562B-0CA1-4ADC-A0C1-6A620C70515E}"/>
    <pc:docChg chg="undo custSel addSld delSld modSld modShowInfo">
      <pc:chgData name="Vaishnavi Somu" userId="8693380095fb6e2f" providerId="LiveId" clId="{E643562B-0CA1-4ADC-A0C1-6A620C70515E}" dt="2026-08-20T07:55:40.799" v="71" actId="47"/>
      <pc:docMkLst>
        <pc:docMk/>
      </pc:docMkLst>
      <pc:sldChg chg="addSp delSp modSp mod">
        <pc:chgData name="Vaishnavi Somu" userId="8693380095fb6e2f" providerId="LiveId" clId="{E643562B-0CA1-4ADC-A0C1-6A620C70515E}" dt="2026-08-20T06:13:44.333" v="10" actId="9405"/>
        <pc:sldMkLst>
          <pc:docMk/>
          <pc:sldMk cId="2247602601" sldId="262"/>
        </pc:sldMkLst>
        <pc:grpChg chg="mod">
          <ac:chgData name="Vaishnavi Somu" userId="8693380095fb6e2f" providerId="LiveId" clId="{E643562B-0CA1-4ADC-A0C1-6A620C70515E}" dt="2026-08-20T06:13:43.102" v="7"/>
          <ac:grpSpMkLst>
            <pc:docMk/>
            <pc:sldMk cId="2247602601" sldId="262"/>
            <ac:grpSpMk id="8" creationId="{3C8A6ECE-EAA2-028E-CA7C-A34886BEFADC}"/>
          </ac:grpSpMkLst>
        </pc:grpChg>
        <pc:inkChg chg="add del mod">
          <ac:chgData name="Vaishnavi Somu" userId="8693380095fb6e2f" providerId="LiveId" clId="{E643562B-0CA1-4ADC-A0C1-6A620C70515E}" dt="2026-08-20T06:13:44.333" v="10" actId="9405"/>
          <ac:inkMkLst>
            <pc:docMk/>
            <pc:sldMk cId="2247602601" sldId="262"/>
            <ac:inkMk id="2" creationId="{6B14593E-AA18-B502-4751-F69FC222F860}"/>
          </ac:inkMkLst>
        </pc:inkChg>
        <pc:inkChg chg="add del mod">
          <ac:chgData name="Vaishnavi Somu" userId="8693380095fb6e2f" providerId="LiveId" clId="{E643562B-0CA1-4ADC-A0C1-6A620C70515E}" dt="2026-08-20T06:13:43.900" v="9" actId="9405"/>
          <ac:inkMkLst>
            <pc:docMk/>
            <pc:sldMk cId="2247602601" sldId="262"/>
            <ac:inkMk id="3" creationId="{FC958132-48DE-1F9E-1D48-FB2E7FC39023}"/>
          </ac:inkMkLst>
        </pc:inkChg>
        <pc:inkChg chg="add del mod">
          <ac:chgData name="Vaishnavi Somu" userId="8693380095fb6e2f" providerId="LiveId" clId="{E643562B-0CA1-4ADC-A0C1-6A620C70515E}" dt="2026-08-20T06:13:43.505" v="8" actId="9405"/>
          <ac:inkMkLst>
            <pc:docMk/>
            <pc:sldMk cId="2247602601" sldId="262"/>
            <ac:inkMk id="5" creationId="{24B3238E-A527-55C6-F707-EB4DAC5C8267}"/>
          </ac:inkMkLst>
        </pc:inkChg>
        <pc:inkChg chg="add del mod">
          <ac:chgData name="Vaishnavi Somu" userId="8693380095fb6e2f" providerId="LiveId" clId="{E643562B-0CA1-4ADC-A0C1-6A620C70515E}" dt="2026-08-20T06:13:43.102" v="7"/>
          <ac:inkMkLst>
            <pc:docMk/>
            <pc:sldMk cId="2247602601" sldId="262"/>
            <ac:inkMk id="6" creationId="{FAC4D742-9285-CB8A-9E26-372BC58486F6}"/>
          </ac:inkMkLst>
        </pc:inkChg>
      </pc:sldChg>
      <pc:sldChg chg="new del">
        <pc:chgData name="Vaishnavi Somu" userId="8693380095fb6e2f" providerId="LiveId" clId="{E643562B-0CA1-4ADC-A0C1-6A620C70515E}" dt="2026-08-20T07:55:37.256" v="63" actId="47"/>
        <pc:sldMkLst>
          <pc:docMk/>
          <pc:sldMk cId="150127120" sldId="911"/>
        </pc:sldMkLst>
      </pc:sldChg>
      <pc:sldChg chg="new del">
        <pc:chgData name="Vaishnavi Somu" userId="8693380095fb6e2f" providerId="LiveId" clId="{E643562B-0CA1-4ADC-A0C1-6A620C70515E}" dt="2026-08-20T07:55:37.705" v="64" actId="47"/>
        <pc:sldMkLst>
          <pc:docMk/>
          <pc:sldMk cId="243034110" sldId="912"/>
        </pc:sldMkLst>
      </pc:sldChg>
      <pc:sldChg chg="new del">
        <pc:chgData name="Vaishnavi Somu" userId="8693380095fb6e2f" providerId="LiveId" clId="{E643562B-0CA1-4ADC-A0C1-6A620C70515E}" dt="2026-08-20T07:55:38.065" v="65" actId="47"/>
        <pc:sldMkLst>
          <pc:docMk/>
          <pc:sldMk cId="1385747785" sldId="913"/>
        </pc:sldMkLst>
      </pc:sldChg>
      <pc:sldChg chg="new del">
        <pc:chgData name="Vaishnavi Somu" userId="8693380095fb6e2f" providerId="LiveId" clId="{E643562B-0CA1-4ADC-A0C1-6A620C70515E}" dt="2026-08-20T07:55:38.428" v="66" actId="47"/>
        <pc:sldMkLst>
          <pc:docMk/>
          <pc:sldMk cId="900208433" sldId="914"/>
        </pc:sldMkLst>
      </pc:sldChg>
      <pc:sldChg chg="new del">
        <pc:chgData name="Vaishnavi Somu" userId="8693380095fb6e2f" providerId="LiveId" clId="{E643562B-0CA1-4ADC-A0C1-6A620C70515E}" dt="2026-08-20T07:55:38.795" v="67" actId="47"/>
        <pc:sldMkLst>
          <pc:docMk/>
          <pc:sldMk cId="4013275619" sldId="915"/>
        </pc:sldMkLst>
      </pc:sldChg>
      <pc:sldChg chg="new del">
        <pc:chgData name="Vaishnavi Somu" userId="8693380095fb6e2f" providerId="LiveId" clId="{E643562B-0CA1-4ADC-A0C1-6A620C70515E}" dt="2026-08-20T07:55:39.110" v="68" actId="47"/>
        <pc:sldMkLst>
          <pc:docMk/>
          <pc:sldMk cId="1906125769" sldId="916"/>
        </pc:sldMkLst>
      </pc:sldChg>
      <pc:sldChg chg="new del">
        <pc:chgData name="Vaishnavi Somu" userId="8693380095fb6e2f" providerId="LiveId" clId="{E643562B-0CA1-4ADC-A0C1-6A620C70515E}" dt="2026-08-20T07:55:39.465" v="69" actId="47"/>
        <pc:sldMkLst>
          <pc:docMk/>
          <pc:sldMk cId="2859858876" sldId="917"/>
        </pc:sldMkLst>
      </pc:sldChg>
      <pc:sldChg chg="new del">
        <pc:chgData name="Vaishnavi Somu" userId="8693380095fb6e2f" providerId="LiveId" clId="{E643562B-0CA1-4ADC-A0C1-6A620C70515E}" dt="2026-08-20T07:55:39.975" v="70" actId="47"/>
        <pc:sldMkLst>
          <pc:docMk/>
          <pc:sldMk cId="540456674" sldId="918"/>
        </pc:sldMkLst>
      </pc:sldChg>
      <pc:sldChg chg="new del">
        <pc:chgData name="Vaishnavi Somu" userId="8693380095fb6e2f" providerId="LiveId" clId="{E643562B-0CA1-4ADC-A0C1-6A620C70515E}" dt="2026-08-20T07:55:40.799" v="71" actId="47"/>
        <pc:sldMkLst>
          <pc:docMk/>
          <pc:sldMk cId="129264298" sldId="919"/>
        </pc:sldMkLst>
      </pc:sldChg>
      <pc:sldChg chg="new del">
        <pc:chgData name="Vaishnavi Somu" userId="8693380095fb6e2f" providerId="LiveId" clId="{E643562B-0CA1-4ADC-A0C1-6A620C70515E}" dt="2026-08-20T07:55:21.663" v="62" actId="680"/>
        <pc:sldMkLst>
          <pc:docMk/>
          <pc:sldMk cId="180037869" sldId="920"/>
        </pc:sldMkLst>
      </pc:sldChg>
      <pc:sldChg chg="new del">
        <pc:chgData name="Vaishnavi Somu" userId="8693380095fb6e2f" providerId="LiveId" clId="{E643562B-0CA1-4ADC-A0C1-6A620C70515E}" dt="2026-08-20T07:55:21.391" v="61" actId="680"/>
        <pc:sldMkLst>
          <pc:docMk/>
          <pc:sldMk cId="324347070" sldId="921"/>
        </pc:sldMkLst>
      </pc:sldChg>
      <pc:sldChg chg="new del">
        <pc:chgData name="Vaishnavi Somu" userId="8693380095fb6e2f" providerId="LiveId" clId="{E643562B-0CA1-4ADC-A0C1-6A620C70515E}" dt="2026-08-20T07:55:21.105" v="60" actId="680"/>
        <pc:sldMkLst>
          <pc:docMk/>
          <pc:sldMk cId="2646807664" sldId="922"/>
        </pc:sldMkLst>
      </pc:sldChg>
      <pc:sldChg chg="new del">
        <pc:chgData name="Vaishnavi Somu" userId="8693380095fb6e2f" providerId="LiveId" clId="{E643562B-0CA1-4ADC-A0C1-6A620C70515E}" dt="2026-08-20T07:55:20.898" v="59" actId="680"/>
        <pc:sldMkLst>
          <pc:docMk/>
          <pc:sldMk cId="1070475969" sldId="923"/>
        </pc:sldMkLst>
      </pc:sldChg>
      <pc:sldChg chg="new del">
        <pc:chgData name="Vaishnavi Somu" userId="8693380095fb6e2f" providerId="LiveId" clId="{E643562B-0CA1-4ADC-A0C1-6A620C70515E}" dt="2026-08-20T07:55:20.675" v="58" actId="680"/>
        <pc:sldMkLst>
          <pc:docMk/>
          <pc:sldMk cId="4085618899" sldId="924"/>
        </pc:sldMkLst>
      </pc:sldChg>
      <pc:sldChg chg="new del">
        <pc:chgData name="Vaishnavi Somu" userId="8693380095fb6e2f" providerId="LiveId" clId="{E643562B-0CA1-4ADC-A0C1-6A620C70515E}" dt="2026-08-20T07:55:20.516" v="57" actId="680"/>
        <pc:sldMkLst>
          <pc:docMk/>
          <pc:sldMk cId="2756800654" sldId="925"/>
        </pc:sldMkLst>
      </pc:sldChg>
      <pc:sldChg chg="new del">
        <pc:chgData name="Vaishnavi Somu" userId="8693380095fb6e2f" providerId="LiveId" clId="{E643562B-0CA1-4ADC-A0C1-6A620C70515E}" dt="2026-08-20T07:55:20.324" v="56" actId="680"/>
        <pc:sldMkLst>
          <pc:docMk/>
          <pc:sldMk cId="407205751" sldId="926"/>
        </pc:sldMkLst>
      </pc:sldChg>
      <pc:sldChg chg="new del">
        <pc:chgData name="Vaishnavi Somu" userId="8693380095fb6e2f" providerId="LiveId" clId="{E643562B-0CA1-4ADC-A0C1-6A620C70515E}" dt="2026-08-20T07:55:20.101" v="55" actId="680"/>
        <pc:sldMkLst>
          <pc:docMk/>
          <pc:sldMk cId="2774163644" sldId="927"/>
        </pc:sldMkLst>
      </pc:sldChg>
      <pc:sldChg chg="new del">
        <pc:chgData name="Vaishnavi Somu" userId="8693380095fb6e2f" providerId="LiveId" clId="{E643562B-0CA1-4ADC-A0C1-6A620C70515E}" dt="2026-08-20T07:55:19.909" v="54" actId="680"/>
        <pc:sldMkLst>
          <pc:docMk/>
          <pc:sldMk cId="673821492" sldId="928"/>
        </pc:sldMkLst>
      </pc:sldChg>
      <pc:sldChg chg="new del">
        <pc:chgData name="Vaishnavi Somu" userId="8693380095fb6e2f" providerId="LiveId" clId="{E643562B-0CA1-4ADC-A0C1-6A620C70515E}" dt="2026-08-20T07:55:19.671" v="53" actId="680"/>
        <pc:sldMkLst>
          <pc:docMk/>
          <pc:sldMk cId="3887756606" sldId="929"/>
        </pc:sldMkLst>
      </pc:sldChg>
      <pc:sldChg chg="new del">
        <pc:chgData name="Vaishnavi Somu" userId="8693380095fb6e2f" providerId="LiveId" clId="{E643562B-0CA1-4ADC-A0C1-6A620C70515E}" dt="2026-08-20T07:55:19.352" v="52" actId="680"/>
        <pc:sldMkLst>
          <pc:docMk/>
          <pc:sldMk cId="1433811662" sldId="930"/>
        </pc:sldMkLst>
      </pc:sldChg>
      <pc:sldChg chg="new del">
        <pc:chgData name="Vaishnavi Somu" userId="8693380095fb6e2f" providerId="LiveId" clId="{E643562B-0CA1-4ADC-A0C1-6A620C70515E}" dt="2026-08-20T07:55:19.081" v="51" actId="680"/>
        <pc:sldMkLst>
          <pc:docMk/>
          <pc:sldMk cId="398372783" sldId="931"/>
        </pc:sldMkLst>
      </pc:sldChg>
      <pc:sldChg chg="new del">
        <pc:chgData name="Vaishnavi Somu" userId="8693380095fb6e2f" providerId="LiveId" clId="{E643562B-0CA1-4ADC-A0C1-6A620C70515E}" dt="2026-08-20T07:55:18.681" v="50" actId="680"/>
        <pc:sldMkLst>
          <pc:docMk/>
          <pc:sldMk cId="4136446106" sldId="932"/>
        </pc:sldMkLst>
      </pc:sldChg>
      <pc:sldChg chg="new del">
        <pc:chgData name="Vaishnavi Somu" userId="8693380095fb6e2f" providerId="LiveId" clId="{E643562B-0CA1-4ADC-A0C1-6A620C70515E}" dt="2026-08-20T07:55:18.426" v="49" actId="680"/>
        <pc:sldMkLst>
          <pc:docMk/>
          <pc:sldMk cId="3878076368" sldId="933"/>
        </pc:sldMkLst>
      </pc:sldChg>
      <pc:sldChg chg="new del">
        <pc:chgData name="Vaishnavi Somu" userId="8693380095fb6e2f" providerId="LiveId" clId="{E643562B-0CA1-4ADC-A0C1-6A620C70515E}" dt="2026-08-20T07:55:17.708" v="48" actId="680"/>
        <pc:sldMkLst>
          <pc:docMk/>
          <pc:sldMk cId="2013212752" sldId="934"/>
        </pc:sldMkLst>
      </pc:sldChg>
      <pc:sldChg chg="new del">
        <pc:chgData name="Vaishnavi Somu" userId="8693380095fb6e2f" providerId="LiveId" clId="{E643562B-0CA1-4ADC-A0C1-6A620C70515E}" dt="2026-08-20T07:55:17.469" v="47" actId="680"/>
        <pc:sldMkLst>
          <pc:docMk/>
          <pc:sldMk cId="4244808642" sldId="935"/>
        </pc:sldMkLst>
      </pc:sldChg>
      <pc:sldChg chg="new del">
        <pc:chgData name="Vaishnavi Somu" userId="8693380095fb6e2f" providerId="LiveId" clId="{E643562B-0CA1-4ADC-A0C1-6A620C70515E}" dt="2026-08-20T07:55:17.007" v="46" actId="680"/>
        <pc:sldMkLst>
          <pc:docMk/>
          <pc:sldMk cId="1937815796" sldId="936"/>
        </pc:sldMkLst>
      </pc:sldChg>
      <pc:sldChg chg="new del">
        <pc:chgData name="Vaishnavi Somu" userId="8693380095fb6e2f" providerId="LiveId" clId="{E643562B-0CA1-4ADC-A0C1-6A620C70515E}" dt="2026-08-20T07:55:16.831" v="45" actId="680"/>
        <pc:sldMkLst>
          <pc:docMk/>
          <pc:sldMk cId="3006607562" sldId="937"/>
        </pc:sldMkLst>
      </pc:sldChg>
      <pc:sldChg chg="new del">
        <pc:chgData name="Vaishnavi Somu" userId="8693380095fb6e2f" providerId="LiveId" clId="{E643562B-0CA1-4ADC-A0C1-6A620C70515E}" dt="2026-08-20T07:55:16.560" v="44" actId="680"/>
        <pc:sldMkLst>
          <pc:docMk/>
          <pc:sldMk cId="2468075976" sldId="938"/>
        </pc:sldMkLst>
      </pc:sldChg>
      <pc:sldChg chg="new del">
        <pc:chgData name="Vaishnavi Somu" userId="8693380095fb6e2f" providerId="LiveId" clId="{E643562B-0CA1-4ADC-A0C1-6A620C70515E}" dt="2026-08-20T07:55:16.051" v="43" actId="680"/>
        <pc:sldMkLst>
          <pc:docMk/>
          <pc:sldMk cId="1018704070" sldId="93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main focus of our project is to bridge the gap between a student's current skills and the skills required for their target career. SkillBridge AI continuously assesses the student, identifies skill gaps, generates a personalized action plan, monitors progress, adapts the plan and finally recommends suitable career opportunities.</a:t>
            </a:r>
          </a:p>
        </p:txBody>
      </p:sp>
      <p:sp>
        <p:nvSpPr>
          <p:cNvPr id="4" name="Slide Number Placeholder 3"/>
          <p:cNvSpPr>
            <a:spLocks noGrp="1"/>
          </p:cNvSpPr>
          <p:nvPr>
            <p:ph type="sldNum" sz="quarter" idx="5"/>
          </p:nvPr>
        </p:nvSpPr>
        <p:spPr/>
        <p:txBody>
          <a:bodyPr/>
          <a:lstStyle/>
          <a:p>
            <a:fld id="{9F19044B-B5AF-477C-950C-4ED51263438D}" type="slidenum">
              <a:rPr lang="en-US" smtClean="0"/>
              <a:t>3</a:t>
            </a:fld>
            <a:endParaRPr lang="en-US"/>
          </a:p>
        </p:txBody>
      </p:sp>
    </p:spTree>
    <p:extLst>
      <p:ext uri="{BB962C8B-B14F-4D97-AF65-F5344CB8AC3E}">
        <p14:creationId xmlns:p14="http://schemas.microsoft.com/office/powerpoint/2010/main" val="2281371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Students often know which career they want, but they do not know exactly which skills they are missing or what actions they should take to become career-ready. Existing platforms usually provide skill assessment, learning recommendations or job recommendations separately. They do not provide one continuous system that assesses, plans, monitors and adapts according to the student's progress. This is the problem our project addresses.</a:t>
            </a:r>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303875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SkillBridge AI is an Agentic AI-based career guidance platform. It uses student information such as skills, education, projects, certifications, assessments and career goals. Multiple AI agents process this information to assess competencies, identify gaps, generate personalized plans, monitor progress and match students with relevant opportunities.</a:t>
            </a:r>
          </a:p>
        </p:txBody>
      </p:sp>
      <p:sp>
        <p:nvSpPr>
          <p:cNvPr id="4" name="Slide Number Placeholder 3"/>
          <p:cNvSpPr>
            <a:spLocks noGrp="1"/>
          </p:cNvSpPr>
          <p:nvPr>
            <p:ph type="sldNum" sz="quarter" idx="5"/>
          </p:nvPr>
        </p:nvSpPr>
        <p:spPr/>
        <p:txBody>
          <a:bodyPr/>
          <a:lstStyle/>
          <a:p>
            <a:fld id="{9F19044B-B5AF-477C-950C-4ED51263438D}" type="slidenum">
              <a:rPr lang="en-US" smtClean="0"/>
              <a:t>5</a:t>
            </a:fld>
            <a:endParaRPr lang="en-US"/>
          </a:p>
        </p:txBody>
      </p:sp>
    </p:spTree>
    <p:extLst>
      <p:ext uri="{BB962C8B-B14F-4D97-AF65-F5344CB8AC3E}">
        <p14:creationId xmlns:p14="http://schemas.microsoft.com/office/powerpoint/2010/main" val="2047090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We studied existing research in personalized learning, skill-gap analysis and AI-based recommendation systems. These studies show that AI can improve personalized learning and recommendations. However, existing approaches generally focus on individual functions rather than providing a complete career-readiness lifecycle. This research gap motivated our proposed system.</a:t>
            </a:r>
          </a:p>
        </p:txBody>
      </p:sp>
      <p:sp>
        <p:nvSpPr>
          <p:cNvPr id="4" name="Slide Number Placeholder 3"/>
          <p:cNvSpPr>
            <a:spLocks noGrp="1"/>
          </p:cNvSpPr>
          <p:nvPr>
            <p:ph type="sldNum" sz="quarter" idx="5"/>
          </p:nvPr>
        </p:nvSpPr>
        <p:spPr/>
        <p:txBody>
          <a:bodyPr/>
          <a:lstStyle/>
          <a:p>
            <a:fld id="{CE162C7A-CC9D-4035-A213-68F795EB7A2A}" type="slidenum">
              <a:rPr lang="en-IN" smtClean="0"/>
              <a:t>6</a:t>
            </a:fld>
            <a:endParaRPr lang="en-IN"/>
          </a:p>
        </p:txBody>
      </p:sp>
    </p:spTree>
    <p:extLst>
      <p:ext uri="{BB962C8B-B14F-4D97-AF65-F5344CB8AC3E}">
        <p14:creationId xmlns:p14="http://schemas.microsoft.com/office/powerpoint/2010/main" val="1647703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main objectives are to assess student competencies, identify career-specific skill gaps, generate personalized career-readiness plans, continuously monitor and adapt those plans, and evaluate readiness for internships, projects and job opportunities. We also aim to implement these functions using an SOA-based microservices architecture with secure and scalable communication.</a:t>
            </a:r>
          </a:p>
        </p:txBody>
      </p:sp>
      <p:sp>
        <p:nvSpPr>
          <p:cNvPr id="4" name="Slide Number Placeholder 3"/>
          <p:cNvSpPr>
            <a:spLocks noGrp="1"/>
          </p:cNvSpPr>
          <p:nvPr>
            <p:ph type="sldNum" sz="quarter" idx="5"/>
          </p:nvPr>
        </p:nvSpPr>
        <p:spPr/>
        <p:txBody>
          <a:bodyPr/>
          <a:lstStyle/>
          <a:p>
            <a:fld id="{9F19044B-B5AF-477C-950C-4ED51263438D}" type="slidenum">
              <a:rPr lang="en-US" smtClean="0"/>
              <a:t>7</a:t>
            </a:fld>
            <a:endParaRPr lang="en-US"/>
          </a:p>
        </p:txBody>
      </p:sp>
    </p:spTree>
    <p:extLst>
      <p:ext uri="{BB962C8B-B14F-4D97-AF65-F5344CB8AC3E}">
        <p14:creationId xmlns:p14="http://schemas.microsoft.com/office/powerpoint/2010/main" val="1540711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major challenges include maintaining accurate student skill profiles, coordinating multiple AI agents, maintaining communication between independent microservices, handling Kafka events reliably, ensuring secure service communication and generating relevant and explainable AI recommendations.</a:t>
            </a:r>
          </a:p>
        </p:txBody>
      </p:sp>
      <p:sp>
        <p:nvSpPr>
          <p:cNvPr id="4" name="Slide Number Placeholder 3"/>
          <p:cNvSpPr>
            <a:spLocks noGrp="1"/>
          </p:cNvSpPr>
          <p:nvPr>
            <p:ph type="sldNum" sz="quarter" idx="5"/>
          </p:nvPr>
        </p:nvSpPr>
        <p:spPr/>
        <p:txBody>
          <a:bodyPr/>
          <a:lstStyle/>
          <a:p>
            <a:fld id="{9F19044B-B5AF-477C-950C-4ED51263438D}" type="slidenum">
              <a:rPr lang="en-US" smtClean="0"/>
              <a:t>8</a:t>
            </a:fld>
            <a:endParaRPr lang="en-US"/>
          </a:p>
        </p:txBody>
      </p:sp>
    </p:spTree>
    <p:extLst>
      <p:ext uri="{BB962C8B-B14F-4D97-AF65-F5344CB8AC3E}">
        <p14:creationId xmlns:p14="http://schemas.microsoft.com/office/powerpoint/2010/main" val="4201971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From our analysis, we identified four major gaps. Existing systems often separate skill assessment from career planning, identify gaps without converting them into actions, provide static recommendations without continuous adaptation, and recommend opportunities without evaluating the student's readiness. SkillBridge AI addresses these gaps through a continuous Assess, Analyze, Plan, Act, Evaluate, Adapt and Match workflow.</a:t>
            </a:r>
          </a:p>
        </p:txBody>
      </p:sp>
      <p:sp>
        <p:nvSpPr>
          <p:cNvPr id="4" name="Slide Number Placeholder 3"/>
          <p:cNvSpPr>
            <a:spLocks noGrp="1"/>
          </p:cNvSpPr>
          <p:nvPr>
            <p:ph type="sldNum" sz="quarter" idx="5"/>
          </p:nvPr>
        </p:nvSpPr>
        <p:spPr/>
        <p:txBody>
          <a:bodyPr/>
          <a:lstStyle/>
          <a:p>
            <a:fld id="{9F19044B-B5AF-477C-950C-4ED51263438D}" type="slidenum">
              <a:rPr lang="en-US" smtClean="0"/>
              <a:t>9</a:t>
            </a:fld>
            <a:endParaRPr lang="en-US"/>
          </a:p>
        </p:txBody>
      </p:sp>
    </p:spTree>
    <p:extLst>
      <p:ext uri="{BB962C8B-B14F-4D97-AF65-F5344CB8AC3E}">
        <p14:creationId xmlns:p14="http://schemas.microsoft.com/office/powerpoint/2010/main" val="2808637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project has five major novelty components. First is the AI Career Digital Twin, which maintains a dynamic representation of the student's career profile. Second is Autonomous Gap-to-Action Planning, which converts identified skill gaps into prioritized actions. Third is the Adaptive Career Recovery Agent, which modifies the plan when the student is not progressing. Fourth is the Opportunity Readiness Score, which evaluates readiness for a specific opportunity. Finally, Agentic SOA Orchestration allows multiple AI agents and microservices to work together.</a:t>
            </a:r>
          </a:p>
          <a:p>
            <a:endParaRPr lang="en-IN" dirty="0"/>
          </a:p>
          <a:p>
            <a:r>
              <a:rPr lang="en-IN" dirty="0"/>
              <a:t>“AI Career Digital Twin, Autonomous Gap-to-Action Planning and Adaptive Career Recovery Agent.” -&gt; Top 3 </a:t>
            </a:r>
            <a:r>
              <a:rPr lang="en-IN" dirty="0" err="1"/>
              <a:t>novalities</a:t>
            </a:r>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10</a:t>
            </a:fld>
            <a:endParaRPr lang="en-US"/>
          </a:p>
        </p:txBody>
      </p:sp>
    </p:spTree>
    <p:extLst>
      <p:ext uri="{BB962C8B-B14F-4D97-AF65-F5344CB8AC3E}">
        <p14:creationId xmlns:p14="http://schemas.microsoft.com/office/powerpoint/2010/main" val="483002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conclude, SkillBridge AI aims to transform traditional career guidance into a continuous and adaptive career-readiness process. Instead of simply recommending courses or jobs, our system identifies skill gaps, generates actions, monitors progress, adapts the plan and evaluates opportunity readiness. In future, we plan to integrate live job and internship sources, resume analysis, interview preparation and real-world user evaluation.</a:t>
            </a:r>
          </a:p>
        </p:txBody>
      </p:sp>
      <p:sp>
        <p:nvSpPr>
          <p:cNvPr id="4" name="Slide Number Placeholder 3"/>
          <p:cNvSpPr>
            <a:spLocks noGrp="1"/>
          </p:cNvSpPr>
          <p:nvPr>
            <p:ph type="sldNum" sz="quarter" idx="5"/>
          </p:nvPr>
        </p:nvSpPr>
        <p:spPr/>
        <p:txBody>
          <a:bodyPr/>
          <a:lstStyle/>
          <a:p>
            <a:fld id="{9F19044B-B5AF-477C-950C-4ED51263438D}" type="slidenum">
              <a:rPr lang="en-US" smtClean="0"/>
              <a:t>12</a:t>
            </a:fld>
            <a:endParaRPr lang="en-US"/>
          </a:p>
        </p:txBody>
      </p:sp>
    </p:spTree>
    <p:extLst>
      <p:ext uri="{BB962C8B-B14F-4D97-AF65-F5344CB8AC3E}">
        <p14:creationId xmlns:p14="http://schemas.microsoft.com/office/powerpoint/2010/main" val="338926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“These are the major research and technology references considered for our proposed system.”</a:t>
            </a:r>
          </a:p>
        </p:txBody>
      </p:sp>
      <p:sp>
        <p:nvSpPr>
          <p:cNvPr id="4" name="Slide Number Placeholder 3"/>
          <p:cNvSpPr>
            <a:spLocks noGrp="1"/>
          </p:cNvSpPr>
          <p:nvPr>
            <p:ph type="sldNum" sz="quarter" idx="5"/>
          </p:nvPr>
        </p:nvSpPr>
        <p:spPr/>
        <p:txBody>
          <a:bodyPr/>
          <a:lstStyle/>
          <a:p>
            <a:fld id="{9F19044B-B5AF-477C-950C-4ED51263438D}" type="slidenum">
              <a:rPr lang="en-US" smtClean="0"/>
              <a:t>13</a:t>
            </a:fld>
            <a:endParaRPr lang="en-US"/>
          </a:p>
        </p:txBody>
      </p:sp>
    </p:spTree>
    <p:extLst>
      <p:ext uri="{BB962C8B-B14F-4D97-AF65-F5344CB8AC3E}">
        <p14:creationId xmlns:p14="http://schemas.microsoft.com/office/powerpoint/2010/main" val="1781861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r>
              <a:rPr lang="en-US"/>
              <a:t>Date 14-08-2026</a:t>
            </a:r>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r>
              <a:rPr lang="en-US"/>
              <a:t>Date 14-08-2026</a:t>
            </a:r>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r>
              <a:rPr lang="en-US"/>
              <a:t>Date 14-08-2026</a:t>
            </a:r>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r>
              <a:rPr lang="en-US"/>
              <a:t>Date 14-08-2026</a:t>
            </a:r>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r>
              <a:rPr lang="en-US"/>
              <a:t>SOA Project Review-1</a:t>
            </a:r>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r>
              <a:rPr lang="en-US"/>
              <a:t>Date 14-08-2026</a:t>
            </a:r>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r>
              <a:rPr lang="en-US"/>
              <a:t>SOA Project Review-1</a:t>
            </a:r>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r>
              <a:rPr lang="en-US"/>
              <a:t>Date 14-08-2026</a:t>
            </a:r>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r>
              <a:rPr lang="en-US"/>
              <a:t>SOA Project Review-1</a:t>
            </a:r>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r>
              <a:rPr lang="en-US"/>
              <a:t>Date 14-08-2026</a:t>
            </a:r>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r>
              <a:rPr lang="en-US"/>
              <a:t>SOA Project Review-1</a:t>
            </a:r>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r>
              <a:rPr lang="en-US"/>
              <a:t>Date 14-08-2026</a:t>
            </a:r>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r>
              <a:rPr lang="en-US"/>
              <a:t>SOA Project Review-1</a:t>
            </a:r>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r>
              <a:rPr lang="en-US"/>
              <a:t>Date 14-08-2026</a:t>
            </a:r>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r>
              <a:rPr lang="en-US"/>
              <a:t>SOA Project Review-1</a:t>
            </a:r>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r>
              <a:rPr lang="en-US"/>
              <a:t>Date 14-08-2026</a:t>
            </a:r>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r>
              <a:rPr lang="en-US"/>
              <a:t>Date 14-08-2026</a:t>
            </a:r>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Date 14-08-2026</a:t>
            </a:r>
            <a:endParaRPr lang="en-IN"/>
          </a:p>
        </p:txBody>
      </p:sp>
      <p:sp>
        <p:nvSpPr>
          <p:cNvPr id="5" name="Footer Placeholder 4"/>
          <p:cNvSpPr>
            <a:spLocks noGrp="1"/>
          </p:cNvSpPr>
          <p:nvPr>
            <p:ph type="ftr" sz="quarter" idx="11"/>
          </p:nvPr>
        </p:nvSpPr>
        <p:spPr/>
        <p:txBody>
          <a:bodyPr/>
          <a:lstStyle/>
          <a:p>
            <a:r>
              <a:rPr lang="en-IN"/>
              <a:t>SOA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Date 14-08-2026</a:t>
            </a:r>
            <a:endParaRPr lang="en-IN"/>
          </a:p>
        </p:txBody>
      </p:sp>
      <p:sp>
        <p:nvSpPr>
          <p:cNvPr id="5" name="Footer Placeholder 4"/>
          <p:cNvSpPr>
            <a:spLocks noGrp="1"/>
          </p:cNvSpPr>
          <p:nvPr>
            <p:ph type="ftr" sz="quarter" idx="11"/>
          </p:nvPr>
        </p:nvSpPr>
        <p:spPr/>
        <p:txBody>
          <a:bodyPr/>
          <a:lstStyle/>
          <a:p>
            <a:r>
              <a:rPr lang="en-IN"/>
              <a:t>SOA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Date 14-08-2026</a:t>
            </a:r>
            <a:endParaRPr lang="en-IN"/>
          </a:p>
        </p:txBody>
      </p:sp>
      <p:sp>
        <p:nvSpPr>
          <p:cNvPr id="5" name="Footer Placeholder 4"/>
          <p:cNvSpPr>
            <a:spLocks noGrp="1"/>
          </p:cNvSpPr>
          <p:nvPr>
            <p:ph type="ftr" sz="quarter" idx="11"/>
          </p:nvPr>
        </p:nvSpPr>
        <p:spPr/>
        <p:txBody>
          <a:bodyPr/>
          <a:lstStyle/>
          <a:p>
            <a:r>
              <a:rPr lang="en-IN"/>
              <a:t>SOA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Date 14-08-2026</a:t>
            </a:r>
            <a:endParaRPr lang="en-IN"/>
          </a:p>
        </p:txBody>
      </p:sp>
      <p:sp>
        <p:nvSpPr>
          <p:cNvPr id="6" name="Footer Placeholder 5"/>
          <p:cNvSpPr>
            <a:spLocks noGrp="1"/>
          </p:cNvSpPr>
          <p:nvPr>
            <p:ph type="ftr" sz="quarter" idx="11"/>
          </p:nvPr>
        </p:nvSpPr>
        <p:spPr/>
        <p:txBody>
          <a:bodyPr/>
          <a:lstStyle/>
          <a:p>
            <a:r>
              <a:rPr lang="en-IN"/>
              <a:t>SOA Project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Date 14-08-2026</a:t>
            </a:r>
            <a:endParaRPr lang="en-IN"/>
          </a:p>
        </p:txBody>
      </p:sp>
      <p:sp>
        <p:nvSpPr>
          <p:cNvPr id="8" name="Footer Placeholder 7"/>
          <p:cNvSpPr>
            <a:spLocks noGrp="1"/>
          </p:cNvSpPr>
          <p:nvPr>
            <p:ph type="ftr" sz="quarter" idx="11"/>
          </p:nvPr>
        </p:nvSpPr>
        <p:spPr/>
        <p:txBody>
          <a:bodyPr/>
          <a:lstStyle/>
          <a:p>
            <a:r>
              <a:rPr lang="en-IN"/>
              <a:t>SOA Project Review-1</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Date 14-08-2026</a:t>
            </a:r>
            <a:endParaRPr lang="en-IN"/>
          </a:p>
        </p:txBody>
      </p:sp>
      <p:sp>
        <p:nvSpPr>
          <p:cNvPr id="4" name="Footer Placeholder 3"/>
          <p:cNvSpPr>
            <a:spLocks noGrp="1"/>
          </p:cNvSpPr>
          <p:nvPr>
            <p:ph type="ftr" sz="quarter" idx="11"/>
          </p:nvPr>
        </p:nvSpPr>
        <p:spPr/>
        <p:txBody>
          <a:bodyPr/>
          <a:lstStyle/>
          <a:p>
            <a:r>
              <a:rPr lang="en-IN"/>
              <a:t>SOA Project Review-1</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Date 14-08-2026</a:t>
            </a:r>
            <a:endParaRPr lang="en-IN"/>
          </a:p>
        </p:txBody>
      </p:sp>
      <p:sp>
        <p:nvSpPr>
          <p:cNvPr id="3" name="Footer Placeholder 2"/>
          <p:cNvSpPr>
            <a:spLocks noGrp="1"/>
          </p:cNvSpPr>
          <p:nvPr>
            <p:ph type="ftr" sz="quarter" idx="11"/>
          </p:nvPr>
        </p:nvSpPr>
        <p:spPr/>
        <p:txBody>
          <a:bodyPr/>
          <a:lstStyle/>
          <a:p>
            <a:r>
              <a:rPr lang="en-IN"/>
              <a:t>SOA Project Review-1</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Date 14-08-2026</a:t>
            </a:r>
            <a:endParaRPr lang="en-IN"/>
          </a:p>
        </p:txBody>
      </p:sp>
      <p:sp>
        <p:nvSpPr>
          <p:cNvPr id="6" name="Footer Placeholder 5"/>
          <p:cNvSpPr>
            <a:spLocks noGrp="1"/>
          </p:cNvSpPr>
          <p:nvPr>
            <p:ph type="ftr" sz="quarter" idx="11"/>
          </p:nvPr>
        </p:nvSpPr>
        <p:spPr/>
        <p:txBody>
          <a:bodyPr/>
          <a:lstStyle/>
          <a:p>
            <a:r>
              <a:rPr lang="en-IN"/>
              <a:t>SOA Project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Date 14-08-2026</a:t>
            </a:r>
            <a:endParaRPr lang="en-IN"/>
          </a:p>
        </p:txBody>
      </p:sp>
      <p:sp>
        <p:nvSpPr>
          <p:cNvPr id="6" name="Footer Placeholder 5"/>
          <p:cNvSpPr>
            <a:spLocks noGrp="1"/>
          </p:cNvSpPr>
          <p:nvPr>
            <p:ph type="ftr" sz="quarter" idx="11"/>
          </p:nvPr>
        </p:nvSpPr>
        <p:spPr/>
        <p:txBody>
          <a:bodyPr/>
          <a:lstStyle/>
          <a:p>
            <a:r>
              <a:rPr lang="en-IN"/>
              <a:t>SOA Project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Date 14-08-2026</a:t>
            </a:r>
            <a:endParaRPr lang="en-IN"/>
          </a:p>
        </p:txBody>
      </p:sp>
      <p:sp>
        <p:nvSpPr>
          <p:cNvPr id="5" name="Footer Placeholder 4"/>
          <p:cNvSpPr>
            <a:spLocks noGrp="1"/>
          </p:cNvSpPr>
          <p:nvPr>
            <p:ph type="ftr" sz="quarter" idx="11"/>
          </p:nvPr>
        </p:nvSpPr>
        <p:spPr/>
        <p:txBody>
          <a:bodyPr/>
          <a:lstStyle/>
          <a:p>
            <a:r>
              <a:rPr lang="en-IN"/>
              <a:t>SOA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Date 14-08-2026</a:t>
            </a:r>
            <a:endParaRPr lang="en-IN"/>
          </a:p>
        </p:txBody>
      </p:sp>
      <p:sp>
        <p:nvSpPr>
          <p:cNvPr id="5" name="Footer Placeholder 4"/>
          <p:cNvSpPr>
            <a:spLocks noGrp="1"/>
          </p:cNvSpPr>
          <p:nvPr>
            <p:ph type="ftr" sz="quarter" idx="11"/>
          </p:nvPr>
        </p:nvSpPr>
        <p:spPr/>
        <p:txBody>
          <a:bodyPr/>
          <a:lstStyle/>
          <a:p>
            <a:r>
              <a:rPr lang="en-IN"/>
              <a:t>SOA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Date 14-08-2026</a:t>
            </a:r>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SOA Project Review-1</a:t>
            </a:r>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 14-08-2026</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SOA Project Review-1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kafka.apache.org/documentation/" TargetMode="External"/><Relationship Id="rId4" Type="http://schemas.openxmlformats.org/officeDocument/2006/relationships/hyperlink" Target="https://spring.io/projects/spring-boot"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046385580"/>
              </p:ext>
            </p:extLst>
          </p:nvPr>
        </p:nvGraphicFramePr>
        <p:xfrm>
          <a:off x="8193271" y="4898509"/>
          <a:ext cx="3702050" cy="7924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Somu Vaishnavi</a:t>
                      </a:r>
                      <a:r>
                        <a:rPr lang="en-IN" sz="1400" b="1" kern="1200" dirty="0">
                          <a:solidFill>
                            <a:schemeClr val="dk1"/>
                          </a:solidFill>
                          <a:latin typeface="Times New Roman" panose="02020603050405020304" pitchFamily="18" charset="0"/>
                          <a:ea typeface="Cambria"/>
                          <a:cs typeface="Times New Roman" panose="02020603050405020304" pitchFamily="18" charset="0"/>
                        </a:rPr>
                        <a:t> - 2420030024</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Maineni Srihitha - 2420030405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682196189"/>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NEELIMA GOGINENI</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a:t>Date 14-08-2026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lvl="0" algn="ctr">
              <a:defRPr/>
            </a:pPr>
            <a:r>
              <a:rPr lang="en-US" sz="2800" b="1" dirty="0" err="1">
                <a:solidFill>
                  <a:schemeClr val="bg1"/>
                </a:solidFill>
                <a:latin typeface="Times New Roman" panose="02020603050405020304" pitchFamily="18" charset="0"/>
                <a:cs typeface="Times New Roman" panose="02020603050405020304" pitchFamily="18" charset="0"/>
              </a:rPr>
              <a:t>SkillBridge</a:t>
            </a:r>
            <a:r>
              <a:rPr lang="en-US" sz="2800" b="1" dirty="0">
                <a:solidFill>
                  <a:schemeClr val="bg1"/>
                </a:solidFill>
                <a:latin typeface="Times New Roman" panose="02020603050405020304" pitchFamily="18" charset="0"/>
                <a:cs typeface="Times New Roman" panose="02020603050405020304" pitchFamily="18" charset="0"/>
              </a:rPr>
              <a:t> AI – An Agentic Career Readiness and Opportunity Orchestration Platform</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Date 14-08-2026</a:t>
            </a: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
        <p:nvSpPr>
          <p:cNvPr id="2" name="Footer Placeholder 1">
            <a:extLst>
              <a:ext uri="{FF2B5EF4-FFF2-40B4-BE49-F238E27FC236}">
                <a16:creationId xmlns:a16="http://schemas.microsoft.com/office/drawing/2014/main" id="{3D8B3F33-19E1-E322-ED55-58B09A490427}"/>
              </a:ext>
            </a:extLst>
          </p:cNvPr>
          <p:cNvSpPr>
            <a:spLocks noGrp="1"/>
          </p:cNvSpPr>
          <p:nvPr>
            <p:ph type="ftr" sz="quarter" idx="11"/>
          </p:nvPr>
        </p:nvSpPr>
        <p:spPr/>
        <p:txBody>
          <a:bodyPr/>
          <a:lstStyle/>
          <a:p>
            <a:r>
              <a:rPr lang="en-IN"/>
              <a:t>SOA Project Review-1</a:t>
            </a:r>
          </a:p>
        </p:txBody>
      </p:sp>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048000" y="403574"/>
            <a:ext cx="6096000" cy="646331"/>
          </a:xfrm>
          <a:prstGeom prst="rect">
            <a:avLst/>
          </a:prstGeom>
          <a:noFill/>
        </p:spPr>
        <p:txBody>
          <a:bodyPr wrap="square" anchor="ctr">
            <a:spAutoFit/>
          </a:bodyPr>
          <a:lstStyle/>
          <a:p>
            <a:pPr algn="ctr"/>
            <a:r>
              <a:rPr lang="en-US" sz="3600" b="1" dirty="0"/>
              <a:t>Focus</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F094295D-2CF7-313F-48AE-91A31351588D}"/>
              </a:ext>
            </a:extLst>
          </p:cNvPr>
          <p:cNvSpPr>
            <a:spLocks noGrp="1"/>
          </p:cNvSpPr>
          <p:nvPr>
            <p:ph type="dt" sz="half" idx="10"/>
          </p:nvPr>
        </p:nvSpPr>
        <p:spPr/>
        <p:txBody>
          <a:bodyPr/>
          <a:lstStyle/>
          <a:p>
            <a:r>
              <a:rPr lang="en-US"/>
              <a:t>Date 14-08-2026</a:t>
            </a:r>
          </a:p>
        </p:txBody>
      </p:sp>
      <p:sp>
        <p:nvSpPr>
          <p:cNvPr id="4" name="Footer Placeholder 3">
            <a:extLst>
              <a:ext uri="{FF2B5EF4-FFF2-40B4-BE49-F238E27FC236}">
                <a16:creationId xmlns:a16="http://schemas.microsoft.com/office/drawing/2014/main" id="{453529A4-EF1B-33B2-BE23-D10B2A57169A}"/>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2DE9AC8F-F6F7-5FAD-D86F-667C25CE7AC1}"/>
              </a:ext>
            </a:extLst>
          </p:cNvPr>
          <p:cNvSpPr>
            <a:spLocks noGrp="1"/>
          </p:cNvSpPr>
          <p:nvPr>
            <p:ph type="sldNum" sz="quarter" idx="12"/>
          </p:nvPr>
        </p:nvSpPr>
        <p:spPr/>
        <p:txBody>
          <a:bodyPr/>
          <a:lstStyle/>
          <a:p>
            <a:fld id="{E639234F-78F1-4984-9C4D-D4C7AB587871}" type="slidenum">
              <a:rPr lang="en-US" smtClean="0"/>
              <a:t>3</a:t>
            </a:fld>
            <a:endParaRPr lang="en-US"/>
          </a:p>
        </p:txBody>
      </p:sp>
      <p:sp>
        <p:nvSpPr>
          <p:cNvPr id="7" name="TextBox 6">
            <a:extLst>
              <a:ext uri="{FF2B5EF4-FFF2-40B4-BE49-F238E27FC236}">
                <a16:creationId xmlns:a16="http://schemas.microsoft.com/office/drawing/2014/main" id="{93FA871D-97A3-5F1C-0BCE-466A0975208A}"/>
              </a:ext>
            </a:extLst>
          </p:cNvPr>
          <p:cNvSpPr txBox="1"/>
          <p:nvPr/>
        </p:nvSpPr>
        <p:spPr>
          <a:xfrm>
            <a:off x="137510" y="1374591"/>
            <a:ext cx="11916980" cy="4108817"/>
          </a:xfrm>
          <a:prstGeom prst="rect">
            <a:avLst/>
          </a:prstGeom>
          <a:noFill/>
        </p:spPr>
        <p:txBody>
          <a:bodyPr wrap="none" rtlCol="0">
            <a:spAutoFit/>
          </a:bodyPr>
          <a:lstStyle/>
          <a:p>
            <a:pPr marL="285750" lvl="0" indent="-285750">
              <a:lnSpc>
                <a:spcPct val="150000"/>
              </a:lnSpc>
              <a:buFont typeface="Arial" panose="020B0604020202020204" pitchFamily="34" charset="0"/>
              <a:buChar char="•"/>
            </a:pPr>
            <a:r>
              <a:rPr lang="en-IN" dirty="0"/>
              <a:t>AI-Based Skill Assessment </a:t>
            </a:r>
          </a:p>
          <a:p>
            <a:pPr marL="285750" lvl="0" indent="-285750">
              <a:lnSpc>
                <a:spcPct val="150000"/>
              </a:lnSpc>
              <a:buFont typeface="Arial" panose="020B0604020202020204" pitchFamily="34" charset="0"/>
              <a:buChar char="•"/>
            </a:pPr>
            <a:r>
              <a:rPr lang="en-IN" dirty="0"/>
              <a:t>Career-Specific Skill Gap Identification </a:t>
            </a:r>
          </a:p>
          <a:p>
            <a:pPr marL="285750" lvl="0" indent="-285750">
              <a:lnSpc>
                <a:spcPct val="150000"/>
              </a:lnSpc>
              <a:buFont typeface="Arial" panose="020B0604020202020204" pitchFamily="34" charset="0"/>
              <a:buChar char="•"/>
            </a:pPr>
            <a:r>
              <a:rPr lang="en-IN" dirty="0"/>
              <a:t>Agentic &amp; Personalized Career Planning </a:t>
            </a:r>
          </a:p>
          <a:p>
            <a:pPr marL="285750" lvl="0" indent="-285750">
              <a:lnSpc>
                <a:spcPct val="150000"/>
              </a:lnSpc>
              <a:buFont typeface="Arial" panose="020B0604020202020204" pitchFamily="34" charset="0"/>
              <a:buChar char="•"/>
            </a:pPr>
            <a:r>
              <a:rPr lang="en-IN" dirty="0"/>
              <a:t>Continuous Progress Evaluation </a:t>
            </a:r>
          </a:p>
          <a:p>
            <a:pPr marL="285750" lvl="0" indent="-285750">
              <a:lnSpc>
                <a:spcPct val="150000"/>
              </a:lnSpc>
              <a:buFont typeface="Arial" panose="020B0604020202020204" pitchFamily="34" charset="0"/>
              <a:buChar char="•"/>
            </a:pPr>
            <a:r>
              <a:rPr lang="en-IN" dirty="0"/>
              <a:t>Opportunity Readiness &amp; Intelligent Matching </a:t>
            </a:r>
          </a:p>
          <a:p>
            <a:pPr marL="285750" lvl="0" indent="-285750">
              <a:lnSpc>
                <a:spcPct val="150000"/>
              </a:lnSpc>
              <a:buFont typeface="Arial" panose="020B0604020202020204" pitchFamily="34" charset="0"/>
              <a:buChar char="•"/>
            </a:pPr>
            <a:r>
              <a:rPr lang="en-IN" dirty="0"/>
              <a:t>SOA-Based Microservices Architecture </a:t>
            </a:r>
          </a:p>
          <a:p>
            <a:pPr marL="285750" lvl="0" indent="-285750">
              <a:lnSpc>
                <a:spcPct val="150000"/>
              </a:lnSpc>
              <a:buFont typeface="Arial" panose="020B0604020202020204" pitchFamily="34" charset="0"/>
              <a:buChar char="•"/>
            </a:pPr>
            <a:r>
              <a:rPr lang="en-IN" dirty="0"/>
              <a:t>Secure &amp; Scalable Career Readiness Platform</a:t>
            </a:r>
          </a:p>
          <a:p>
            <a:pPr marL="285750" lvl="0" indent="-285750">
              <a:lnSpc>
                <a:spcPct val="150000"/>
              </a:lnSpc>
              <a:buFont typeface="Arial" panose="020B0604020202020204" pitchFamily="34" charset="0"/>
              <a:buChar char="•"/>
            </a:pPr>
            <a:endParaRPr lang="en-IN" dirty="0"/>
          </a:p>
          <a:p>
            <a:pPr lvl="0">
              <a:lnSpc>
                <a:spcPct val="150000"/>
              </a:lnSpc>
            </a:pPr>
            <a:r>
              <a:rPr lang="en-IN" dirty="0"/>
              <a:t>Bridging the gap between student’s current skills and their desired career opportunities through autonomous AI agents.</a:t>
            </a:r>
          </a:p>
          <a:p>
            <a:endParaRPr lang="en-IN"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4534B-BEA1-B664-D46E-E7171F0A9CF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6292F6-0778-4614-8C01-6EB88031537F}"/>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899B9B8E-3E71-6189-F2C7-DF397698A79A}"/>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957BEE6A-E229-4505-F4B7-A07DFE664E42}"/>
              </a:ext>
            </a:extLst>
          </p:cNvPr>
          <p:cNvSpPr>
            <a:spLocks noGrp="1"/>
          </p:cNvSpPr>
          <p:nvPr>
            <p:ph type="dt" sz="half" idx="10"/>
          </p:nvPr>
        </p:nvSpPr>
        <p:spPr/>
        <p:txBody>
          <a:bodyPr/>
          <a:lstStyle/>
          <a:p>
            <a:r>
              <a:rPr lang="en-US"/>
              <a:t>Date 14-08-2026</a:t>
            </a:r>
          </a:p>
        </p:txBody>
      </p:sp>
      <p:sp>
        <p:nvSpPr>
          <p:cNvPr id="4" name="Footer Placeholder 3">
            <a:extLst>
              <a:ext uri="{FF2B5EF4-FFF2-40B4-BE49-F238E27FC236}">
                <a16:creationId xmlns:a16="http://schemas.microsoft.com/office/drawing/2014/main" id="{4DB25D17-4D4B-9DE1-0684-48E060051AE5}"/>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2ABE1173-649B-744C-F650-FC4691504C6B}"/>
              </a:ext>
            </a:extLst>
          </p:cNvPr>
          <p:cNvSpPr>
            <a:spLocks noGrp="1"/>
          </p:cNvSpPr>
          <p:nvPr>
            <p:ph type="sldNum" sz="quarter" idx="12"/>
          </p:nvPr>
        </p:nvSpPr>
        <p:spPr/>
        <p:txBody>
          <a:bodyPr/>
          <a:lstStyle/>
          <a:p>
            <a:fld id="{E639234F-78F1-4984-9C4D-D4C7AB587871}" type="slidenum">
              <a:rPr lang="en-US" smtClean="0"/>
              <a:t>4</a:t>
            </a:fld>
            <a:endParaRPr lang="en-US"/>
          </a:p>
        </p:txBody>
      </p:sp>
      <p:sp>
        <p:nvSpPr>
          <p:cNvPr id="7" name="TextBox 6">
            <a:extLst>
              <a:ext uri="{FF2B5EF4-FFF2-40B4-BE49-F238E27FC236}">
                <a16:creationId xmlns:a16="http://schemas.microsoft.com/office/drawing/2014/main" id="{FE9002BA-BBB2-CDFB-8606-2E5BA975AB9D}"/>
              </a:ext>
            </a:extLst>
          </p:cNvPr>
          <p:cNvSpPr txBox="1"/>
          <p:nvPr/>
        </p:nvSpPr>
        <p:spPr>
          <a:xfrm>
            <a:off x="386753" y="1618798"/>
            <a:ext cx="11418493" cy="4247317"/>
          </a:xfrm>
          <a:prstGeom prst="rect">
            <a:avLst/>
          </a:prstGeom>
          <a:noFill/>
        </p:spPr>
        <p:txBody>
          <a:bodyPr wrap="square" rtlCol="0">
            <a:spAutoFit/>
          </a:bodyPr>
          <a:lstStyle/>
          <a:p>
            <a:pPr lvl="0"/>
            <a:r>
              <a:rPr lang="en-IN" dirty="0"/>
              <a:t>Students often lack a clear understanding of their current skills and the competencies required for their desired careers. </a:t>
            </a:r>
          </a:p>
          <a:p>
            <a:pPr lvl="0"/>
            <a:r>
              <a:rPr lang="en-IN" dirty="0"/>
              <a:t>Existing platforms mainly provide separate services such as skill tracking, learning recommendations, or opportunity listings. </a:t>
            </a:r>
          </a:p>
          <a:p>
            <a:pPr lvl="0"/>
            <a:r>
              <a:rPr lang="en-IN" dirty="0"/>
              <a:t>There is limited support for continuous AI-based skill-gap analysis and personalized career planning. </a:t>
            </a:r>
          </a:p>
          <a:p>
            <a:pPr lvl="0"/>
            <a:r>
              <a:rPr lang="en-IN" dirty="0"/>
              <a:t>Most systems do not dynamically adapt career plans based on a student's performance and progress. </a:t>
            </a:r>
          </a:p>
          <a:p>
            <a:pPr lvl="0"/>
            <a:r>
              <a:rPr lang="en-IN" dirty="0"/>
              <a:t>Students also lack an intelligent mechanism to evaluate their readiness for specific career opportunities. </a:t>
            </a:r>
          </a:p>
          <a:p>
            <a:pPr lvl="0"/>
            <a:r>
              <a:rPr lang="en-IN" dirty="0"/>
              <a:t>Therefore, there is a need for an agentic AI platform that can continuously assess skills, identify gaps, generate personalized plans, evaluate progress, adapt the plan, and match students with suitable opportunities. </a:t>
            </a:r>
          </a:p>
          <a:p>
            <a:pPr lvl="0"/>
            <a:endParaRPr lang="en-IN" dirty="0"/>
          </a:p>
          <a:p>
            <a:r>
              <a:rPr lang="en-IN" b="1" dirty="0"/>
              <a:t>Core Problem</a:t>
            </a:r>
          </a:p>
          <a:p>
            <a:r>
              <a:rPr lang="en-IN" dirty="0"/>
              <a:t>To develop an autonomous AI-based system that bridges the gap between a student's current skills and the requirements of their desired career through continuous assessment, adaptive planning, and opportunity-readiness analysis.</a:t>
            </a:r>
          </a:p>
          <a:p>
            <a:endParaRPr lang="en-IN" dirty="0"/>
          </a:p>
        </p:txBody>
      </p:sp>
    </p:spTree>
    <p:extLst>
      <p:ext uri="{BB962C8B-B14F-4D97-AF65-F5344CB8AC3E}">
        <p14:creationId xmlns:p14="http://schemas.microsoft.com/office/powerpoint/2010/main" val="612290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52EB2-101D-3FBB-7357-4CEE2A4CB3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2D82918-E7B5-BC61-A388-C6F33EFDF619}"/>
              </a:ext>
            </a:extLst>
          </p:cNvPr>
          <p:cNvSpPr txBox="1"/>
          <p:nvPr/>
        </p:nvSpPr>
        <p:spPr>
          <a:xfrm>
            <a:off x="3048000" y="403574"/>
            <a:ext cx="6096000" cy="646331"/>
          </a:xfrm>
          <a:prstGeom prst="rect">
            <a:avLst/>
          </a:prstGeom>
          <a:noFill/>
        </p:spPr>
        <p:txBody>
          <a:bodyPr wrap="square" anchor="ctr">
            <a:spAutoFit/>
          </a:bodyPr>
          <a:lstStyle/>
          <a:p>
            <a:pPr algn="ctr"/>
            <a:r>
              <a:rPr lang="en-US" sz="3600" b="1" dirty="0"/>
              <a:t>Introduction</a:t>
            </a:r>
          </a:p>
        </p:txBody>
      </p:sp>
      <p:pic>
        <p:nvPicPr>
          <p:cNvPr id="3" name="Picture 2">
            <a:extLst>
              <a:ext uri="{FF2B5EF4-FFF2-40B4-BE49-F238E27FC236}">
                <a16:creationId xmlns:a16="http://schemas.microsoft.com/office/drawing/2014/main" id="{A5C8A728-FB35-C3AB-4DB4-0E3080653BAA}"/>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B9A05CD3-9517-DA3B-A0F3-1F6911D0143F}"/>
              </a:ext>
            </a:extLst>
          </p:cNvPr>
          <p:cNvSpPr>
            <a:spLocks noGrp="1"/>
          </p:cNvSpPr>
          <p:nvPr>
            <p:ph type="dt" sz="half" idx="10"/>
          </p:nvPr>
        </p:nvSpPr>
        <p:spPr/>
        <p:txBody>
          <a:bodyPr/>
          <a:lstStyle/>
          <a:p>
            <a:r>
              <a:rPr lang="en-US"/>
              <a:t>Date 14-08-2026</a:t>
            </a:r>
          </a:p>
        </p:txBody>
      </p:sp>
      <p:sp>
        <p:nvSpPr>
          <p:cNvPr id="4" name="Footer Placeholder 3">
            <a:extLst>
              <a:ext uri="{FF2B5EF4-FFF2-40B4-BE49-F238E27FC236}">
                <a16:creationId xmlns:a16="http://schemas.microsoft.com/office/drawing/2014/main" id="{E7A70FB1-A9A9-C3CD-ACD9-62F6A36BDDAE}"/>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EC9A2722-DE2B-7F1E-891F-666A0F691E3A}"/>
              </a:ext>
            </a:extLst>
          </p:cNvPr>
          <p:cNvSpPr>
            <a:spLocks noGrp="1"/>
          </p:cNvSpPr>
          <p:nvPr>
            <p:ph type="sldNum" sz="quarter" idx="12"/>
          </p:nvPr>
        </p:nvSpPr>
        <p:spPr/>
        <p:txBody>
          <a:bodyPr/>
          <a:lstStyle/>
          <a:p>
            <a:fld id="{E639234F-78F1-4984-9C4D-D4C7AB587871}" type="slidenum">
              <a:rPr lang="en-US" smtClean="0"/>
              <a:t>5</a:t>
            </a:fld>
            <a:endParaRPr lang="en-US"/>
          </a:p>
        </p:txBody>
      </p:sp>
      <p:sp>
        <p:nvSpPr>
          <p:cNvPr id="7" name="TextBox 6">
            <a:extLst>
              <a:ext uri="{FF2B5EF4-FFF2-40B4-BE49-F238E27FC236}">
                <a16:creationId xmlns:a16="http://schemas.microsoft.com/office/drawing/2014/main" id="{69376DE9-541D-F95F-C122-51A9C303B966}"/>
              </a:ext>
            </a:extLst>
          </p:cNvPr>
          <p:cNvSpPr txBox="1"/>
          <p:nvPr/>
        </p:nvSpPr>
        <p:spPr>
          <a:xfrm>
            <a:off x="191658" y="1579469"/>
            <a:ext cx="11808684" cy="4247317"/>
          </a:xfrm>
          <a:prstGeom prst="rect">
            <a:avLst/>
          </a:prstGeom>
          <a:noFill/>
        </p:spPr>
        <p:txBody>
          <a:bodyPr wrap="square" rtlCol="0">
            <a:spAutoFit/>
          </a:bodyPr>
          <a:lstStyle/>
          <a:p>
            <a:pPr marL="285750" lvl="0" indent="-285750">
              <a:buFont typeface="Arial" panose="020B0604020202020204" pitchFamily="34" charset="0"/>
              <a:buChar char="•"/>
            </a:pPr>
            <a:r>
              <a:rPr lang="en-IN" dirty="0"/>
              <a:t>The transition from academic education to a suitable career is challenging due to rapidly changing industry skill requirements.</a:t>
            </a:r>
          </a:p>
          <a:p>
            <a:pPr marL="285750" lvl="0" indent="-285750">
              <a:buFont typeface="Arial" panose="020B0604020202020204" pitchFamily="34" charset="0"/>
              <a:buChar char="•"/>
            </a:pPr>
            <a:r>
              <a:rPr lang="en-IN" dirty="0"/>
              <a:t>Students often have difficulty identifying their existing competencies, skill gaps, and the skills required for their desired career roles.</a:t>
            </a:r>
          </a:p>
          <a:p>
            <a:pPr marL="285750" lvl="0" indent="-285750">
              <a:buFont typeface="Arial" panose="020B0604020202020204" pitchFamily="34" charset="0"/>
              <a:buChar char="•"/>
            </a:pPr>
            <a:r>
              <a:rPr lang="en-IN" dirty="0"/>
              <a:t>Existing systems generally provide isolated services such as skill tracking, learning recommendations, or opportunity discovery.</a:t>
            </a:r>
          </a:p>
          <a:p>
            <a:pPr marL="285750" lvl="0" indent="-285750">
              <a:buFont typeface="Arial" panose="020B0604020202020204" pitchFamily="34" charset="0"/>
              <a:buChar char="•"/>
            </a:pPr>
            <a:r>
              <a:rPr lang="en-IN" b="1" dirty="0"/>
              <a:t>SkillBridge AI</a:t>
            </a:r>
            <a:r>
              <a:rPr lang="en-IN" dirty="0"/>
              <a:t> integrates these processes into a unified </a:t>
            </a:r>
            <a:r>
              <a:rPr lang="en-IN" b="1" dirty="0"/>
              <a:t>agentic AI-based career readiness platform</a:t>
            </a:r>
            <a:r>
              <a:rPr lang="en-IN" dirty="0"/>
              <a:t>.</a:t>
            </a:r>
          </a:p>
          <a:p>
            <a:pPr marL="285750" lvl="0" indent="-285750">
              <a:buFont typeface="Arial" panose="020B0604020202020204" pitchFamily="34" charset="0"/>
              <a:buChar char="•"/>
            </a:pPr>
            <a:r>
              <a:rPr lang="en-IN" dirty="0"/>
              <a:t>AI agents continuously assess skills, identify career-specific gaps, generate personalized action plans, and evaluate student progress.</a:t>
            </a:r>
          </a:p>
          <a:p>
            <a:pPr marL="285750" lvl="0" indent="-285750">
              <a:buFont typeface="Arial" panose="020B0604020202020204" pitchFamily="34" charset="0"/>
              <a:buChar char="•"/>
            </a:pPr>
            <a:r>
              <a:rPr lang="en-IN" dirty="0"/>
              <a:t>The system dynamically adapts career-readiness plans based on student performance and changing goals.</a:t>
            </a:r>
          </a:p>
          <a:p>
            <a:pPr marL="285750" lvl="0" indent="-285750">
              <a:buFont typeface="Arial" panose="020B0604020202020204" pitchFamily="34" charset="0"/>
              <a:buChar char="•"/>
            </a:pPr>
            <a:r>
              <a:rPr lang="en-IN" dirty="0"/>
              <a:t>A </a:t>
            </a:r>
            <a:r>
              <a:rPr lang="en-IN" b="1" dirty="0"/>
              <a:t>Service-Oriented Architecture (SOA)</a:t>
            </a:r>
            <a:r>
              <a:rPr lang="en-IN" dirty="0"/>
              <a:t> with microservices enables secure, scalable, and independently deployable services.</a:t>
            </a:r>
          </a:p>
          <a:p>
            <a:pPr marL="285750" lvl="0" indent="-285750">
              <a:buFont typeface="Arial" panose="020B0604020202020204" pitchFamily="34" charset="0"/>
              <a:buChar char="•"/>
            </a:pPr>
            <a:r>
              <a:rPr lang="en-IN" dirty="0"/>
              <a:t>The platform ultimately helps students understand their </a:t>
            </a:r>
            <a:r>
              <a:rPr lang="en-IN" b="1" dirty="0"/>
              <a:t>career readiness and suitability for relevant opportunities</a:t>
            </a:r>
            <a:r>
              <a:rPr lang="en-IN" dirty="0"/>
              <a:t>.</a:t>
            </a:r>
          </a:p>
          <a:p>
            <a:endParaRPr lang="en-IN" dirty="0"/>
          </a:p>
        </p:txBody>
      </p:sp>
    </p:spTree>
    <p:extLst>
      <p:ext uri="{BB962C8B-B14F-4D97-AF65-F5344CB8AC3E}">
        <p14:creationId xmlns:p14="http://schemas.microsoft.com/office/powerpoint/2010/main" val="1347181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067514293"/>
              </p:ext>
            </p:extLst>
          </p:nvPr>
        </p:nvGraphicFramePr>
        <p:xfrm>
          <a:off x="274646" y="689466"/>
          <a:ext cx="11642705" cy="57398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r>
                        <a:rPr lang="en-IN" sz="1400" dirty="0">
                          <a:solidFill>
                            <a:srgbClr val="FF0000"/>
                          </a:solidFill>
                        </a:rPr>
                        <a:t>Muhammad Murtaza et al. [1]</a:t>
                      </a:r>
                    </a:p>
                  </a:txBody>
                  <a:tcPr/>
                </a:tc>
                <a:tc>
                  <a:txBody>
                    <a:bodyPr/>
                    <a:lstStyle/>
                    <a:p>
                      <a:r>
                        <a:rPr lang="en-IN" sz="1400" b="1" dirty="0">
                          <a:solidFill>
                            <a:srgbClr val="FF0000"/>
                          </a:solidFill>
                        </a:rPr>
                        <a:t>AI-Based Personalized E-Learning Systems: Issues, Challenges, and Solutions</a:t>
                      </a:r>
                      <a:r>
                        <a:rPr lang="en-IN" sz="1400" dirty="0">
                          <a:solidFill>
                            <a:srgbClr val="FF0000"/>
                          </a:solidFill>
                        </a:rPr>
                        <a:t>, IEEE Access, 2022</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rPr>
                        <a:t>• Learner profiling and assessment data</a:t>
                      </a:r>
                      <a:br>
                        <a:rPr lang="en-IN" sz="1400" dirty="0">
                          <a:solidFill>
                            <a:srgbClr val="FF0000"/>
                          </a:solidFill>
                        </a:rPr>
                      </a:br>
                      <a:r>
                        <a:rPr lang="en-IN" sz="1400" dirty="0">
                          <a:solidFill>
                            <a:srgbClr val="FF0000"/>
                          </a:solidFill>
                        </a:rPr>
                        <a:t>• Adaptive learning and recommendation modules</a:t>
                      </a:r>
                      <a:br>
                        <a:rPr lang="en-IN" sz="1400" dirty="0">
                          <a:solidFill>
                            <a:srgbClr val="FF0000"/>
                          </a:solidFill>
                        </a:rPr>
                      </a:br>
                      <a:r>
                        <a:rPr lang="en-IN" sz="1400" dirty="0">
                          <a:solidFill>
                            <a:srgbClr val="FF0000"/>
                          </a:solidFill>
                        </a:rPr>
                        <a:t>• Machine learning-based knowledge-level estimation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rPr>
                        <a:t>• AI can continuously estimate learner knowledge levels.</a:t>
                      </a:r>
                      <a:br>
                        <a:rPr lang="en-IN" sz="1400" dirty="0">
                          <a:solidFill>
                            <a:srgbClr val="FF0000"/>
                          </a:solidFill>
                        </a:rPr>
                      </a:br>
                      <a:r>
                        <a:rPr lang="en-IN" sz="1400" dirty="0">
                          <a:solidFill>
                            <a:srgbClr val="FF0000"/>
                          </a:solidFill>
                        </a:rPr>
                        <a:t>• Personalized recommendations can be generated based on learner performance and interaction data.</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rPr>
                        <a:t>• Focuses mainly on personalized e-learning rather than complete career-readiness orchestration.</a:t>
                      </a:r>
                      <a:br>
                        <a:rPr lang="en-IN" sz="1400" dirty="0">
                          <a:solidFill>
                            <a:srgbClr val="FF0000"/>
                          </a:solidFill>
                        </a:rPr>
                      </a:br>
                      <a:r>
                        <a:rPr lang="en-IN" sz="1400" dirty="0">
                          <a:solidFill>
                            <a:srgbClr val="FF0000"/>
                          </a:solidFill>
                        </a:rPr>
                        <a:t>• Further integration with career goals and employment opportunities is required.</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solidFill>
                            <a:srgbClr val="FF0000"/>
                          </a:solidFill>
                        </a:rPr>
                        <a:t>Nabizadeh et al. [2]</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1" dirty="0">
                          <a:solidFill>
                            <a:srgbClr val="FF0000"/>
                          </a:solidFill>
                        </a:rPr>
                        <a:t>Learning Path Personalization and Recommendation Methods: A Survey of the State-of-the-Art</a:t>
                      </a:r>
                      <a:r>
                        <a:rPr lang="en-IN" sz="1400" dirty="0">
                          <a:solidFill>
                            <a:srgbClr val="FF0000"/>
                          </a:solidFill>
                        </a:rPr>
                        <a:t>, Expert Systems with Applications, 2020</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rPr>
                        <a:t>• Review of learning-path personalization techniques</a:t>
                      </a:r>
                      <a:br>
                        <a:rPr lang="en-IN" sz="1400" dirty="0">
                          <a:solidFill>
                            <a:srgbClr val="FF0000"/>
                          </a:solidFill>
                        </a:rPr>
                      </a:br>
                      <a:r>
                        <a:rPr lang="en-IN" sz="1400" dirty="0">
                          <a:solidFill>
                            <a:srgbClr val="FF0000"/>
                          </a:solidFill>
                        </a:rPr>
                        <a:t>• Course generation and sequence recommendation</a:t>
                      </a:r>
                      <a:br>
                        <a:rPr lang="en-IN" sz="1400" dirty="0">
                          <a:solidFill>
                            <a:srgbClr val="FF0000"/>
                          </a:solidFill>
                        </a:rPr>
                      </a:br>
                      <a:r>
                        <a:rPr lang="en-IN" sz="1400" dirty="0">
                          <a:solidFill>
                            <a:srgbClr val="FF0000"/>
                          </a:solidFill>
                        </a:rPr>
                        <a:t>• Personalization based on learner goals, abilities and background</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rPr>
                        <a:t>• Personalized learning paths can improve alignment between learner characteristics and learning objectives.</a:t>
                      </a:r>
                      <a:br>
                        <a:rPr lang="en-IN" sz="1400" dirty="0">
                          <a:solidFill>
                            <a:srgbClr val="FF0000"/>
                          </a:solidFill>
                        </a:rPr>
                      </a:br>
                      <a:r>
                        <a:rPr lang="en-IN" sz="1400" dirty="0">
                          <a:solidFill>
                            <a:srgbClr val="FF0000"/>
                          </a:solidFill>
                        </a:rPr>
                        <a:t>• Different recommendation approaches have different personalization capabilities.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rPr>
                        <a:t>• Existing approaches face challenges in flexibility, evaluation and adapting to changing learner requirements.</a:t>
                      </a:r>
                      <a:br>
                        <a:rPr lang="en-IN" sz="1400" dirty="0">
                          <a:solidFill>
                            <a:srgbClr val="FF0000"/>
                          </a:solidFill>
                        </a:rPr>
                      </a:br>
                      <a:r>
                        <a:rPr lang="en-IN" sz="1400" dirty="0">
                          <a:solidFill>
                            <a:srgbClr val="FF0000"/>
                          </a:solidFill>
                        </a:rPr>
                        <a:t>• Further research is needed for more adaptive and intelligent planning.</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solidFill>
                            <a:srgbClr val="FF0000"/>
                          </a:solidFill>
                        </a:rPr>
                        <a:t>Luo, Wang &amp; Hew [3]</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1" dirty="0">
                          <a:solidFill>
                            <a:srgbClr val="FF0000"/>
                          </a:solidFill>
                        </a:rPr>
                        <a:t>Development and Implementation of a Generative AI-Based Personalized Recommender System to Improve Students' Self-Regulated Learning and Academic Performance</a:t>
                      </a:r>
                      <a:r>
                        <a:rPr lang="en-IN" sz="1400" dirty="0">
                          <a:solidFill>
                            <a:srgbClr val="FF0000"/>
                          </a:solidFill>
                        </a:rPr>
                        <a:t>, Computers &amp; Education, 2025</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rPr>
                        <a:t>• Large Language Model (LLM)-based recommender system</a:t>
                      </a:r>
                      <a:br>
                        <a:rPr lang="en-IN" sz="1400" dirty="0">
                          <a:solidFill>
                            <a:srgbClr val="FF0000"/>
                          </a:solidFill>
                        </a:rPr>
                      </a:br>
                      <a:r>
                        <a:rPr lang="en-IN" sz="1400" dirty="0">
                          <a:solidFill>
                            <a:srgbClr val="FF0000"/>
                          </a:solidFill>
                        </a:rPr>
                        <a:t>• Multiple AI agents for personalized feedback</a:t>
                      </a:r>
                      <a:br>
                        <a:rPr lang="en-IN" sz="1400" dirty="0">
                          <a:solidFill>
                            <a:srgbClr val="FF0000"/>
                          </a:solidFill>
                        </a:rPr>
                      </a:br>
                      <a:r>
                        <a:rPr lang="en-IN" sz="1400" dirty="0">
                          <a:solidFill>
                            <a:srgbClr val="FF0000"/>
                          </a:solidFill>
                        </a:rPr>
                        <a:t>• Real-time student interaction and self-regulation profiling</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rPr>
                        <a:t>• LLM-based agents can provide personalized and actionable recommendations.</a:t>
                      </a:r>
                      <a:br>
                        <a:rPr lang="en-IN" sz="1400" dirty="0">
                          <a:solidFill>
                            <a:srgbClr val="FF0000"/>
                          </a:solidFill>
                        </a:rPr>
                      </a:br>
                      <a:r>
                        <a:rPr lang="en-IN" sz="1400" dirty="0">
                          <a:solidFill>
                            <a:srgbClr val="FF0000"/>
                          </a:solidFill>
                        </a:rPr>
                        <a:t>• AI-supported recommendations can assist students in planning, monitoring and evaluating their learning.</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rPr>
                        <a:t>• Study involved a relatively small group of postgraduate students.</a:t>
                      </a:r>
                      <a:br>
                        <a:rPr lang="en-IN" sz="1400" dirty="0">
                          <a:solidFill>
                            <a:srgbClr val="FF0000"/>
                          </a:solidFill>
                        </a:rPr>
                      </a:br>
                      <a:r>
                        <a:rPr lang="en-IN" sz="1400" dirty="0">
                          <a:solidFill>
                            <a:srgbClr val="FF0000"/>
                          </a:solidFill>
                        </a:rPr>
                        <a:t>• Potential concerns include over-reliance on AI and repetitive prompting.</a:t>
                      </a:r>
                      <a:br>
                        <a:rPr lang="en-IN" sz="1400" dirty="0">
                          <a:solidFill>
                            <a:srgbClr val="FF0000"/>
                          </a:solidFill>
                        </a:rPr>
                      </a:br>
                      <a:r>
                        <a:rPr lang="en-IN" sz="1400" dirty="0">
                          <a:solidFill>
                            <a:srgbClr val="FF0000"/>
                          </a:solidFill>
                        </a:rPr>
                        <a:t>• Career-readiness and opportunity matching are outside the study scope.</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r>
              <a:rPr lang="en-US"/>
              <a:t>Date 14-08-2026</a:t>
            </a:r>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SOA Project Review-1</a:t>
            </a:r>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6</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40DCF7A-9F5A-AD2D-E8EB-15C4E4092DCD}"/>
              </a:ext>
            </a:extLst>
          </p:cNvPr>
          <p:cNvSpPr>
            <a:spLocks noGrp="1"/>
          </p:cNvSpPr>
          <p:nvPr>
            <p:ph type="dt" sz="half" idx="10"/>
          </p:nvPr>
        </p:nvSpPr>
        <p:spPr/>
        <p:txBody>
          <a:bodyPr/>
          <a:lstStyle/>
          <a:p>
            <a:r>
              <a:rPr lang="en-US"/>
              <a:t>Date 14-08-2026</a:t>
            </a:r>
          </a:p>
        </p:txBody>
      </p:sp>
      <p:sp>
        <p:nvSpPr>
          <p:cNvPr id="4" name="Footer Placeholder 3">
            <a:extLst>
              <a:ext uri="{FF2B5EF4-FFF2-40B4-BE49-F238E27FC236}">
                <a16:creationId xmlns:a16="http://schemas.microsoft.com/office/drawing/2014/main" id="{AFDB25AD-D4B5-10E0-553D-69DECFFFCD4A}"/>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FB6C609C-10F2-3D6D-7A9E-B148D57D72C5}"/>
              </a:ext>
            </a:extLst>
          </p:cNvPr>
          <p:cNvSpPr>
            <a:spLocks noGrp="1"/>
          </p:cNvSpPr>
          <p:nvPr>
            <p:ph type="sldNum" sz="quarter" idx="12"/>
          </p:nvPr>
        </p:nvSpPr>
        <p:spPr/>
        <p:txBody>
          <a:bodyPr/>
          <a:lstStyle/>
          <a:p>
            <a:fld id="{E639234F-78F1-4984-9C4D-D4C7AB587871}" type="slidenum">
              <a:rPr lang="en-US" smtClean="0"/>
              <a:t>7</a:t>
            </a:fld>
            <a:endParaRPr lang="en-US"/>
          </a:p>
        </p:txBody>
      </p:sp>
      <p:sp>
        <p:nvSpPr>
          <p:cNvPr id="7" name="TextBox 6">
            <a:extLst>
              <a:ext uri="{FF2B5EF4-FFF2-40B4-BE49-F238E27FC236}">
                <a16:creationId xmlns:a16="http://schemas.microsoft.com/office/drawing/2014/main" id="{AE81C95E-5159-5ECA-3DD1-A6C1BE997BDB}"/>
              </a:ext>
            </a:extLst>
          </p:cNvPr>
          <p:cNvSpPr txBox="1"/>
          <p:nvPr/>
        </p:nvSpPr>
        <p:spPr>
          <a:xfrm>
            <a:off x="753464" y="1335268"/>
            <a:ext cx="10685072" cy="4801314"/>
          </a:xfrm>
          <a:prstGeom prst="rect">
            <a:avLst/>
          </a:prstGeom>
          <a:noFill/>
        </p:spPr>
        <p:txBody>
          <a:bodyPr wrap="square" rtlCol="0">
            <a:spAutoFit/>
          </a:bodyPr>
          <a:lstStyle/>
          <a:p>
            <a:pPr marL="285750" lvl="0" indent="-285750">
              <a:buFont typeface="Arial" panose="020B0604020202020204" pitchFamily="34" charset="0"/>
              <a:buChar char="•"/>
            </a:pPr>
            <a:r>
              <a:rPr lang="en-IN" b="1" dirty="0"/>
              <a:t>To develop an AI-based platform</a:t>
            </a:r>
            <a:r>
              <a:rPr lang="en-IN" dirty="0"/>
              <a:t> that assesses students' skills, competencies, projects, and career goals.</a:t>
            </a:r>
          </a:p>
          <a:p>
            <a:pPr marL="285750" lvl="0" indent="-285750">
              <a:buFont typeface="Arial" panose="020B0604020202020204" pitchFamily="34" charset="0"/>
              <a:buChar char="•"/>
            </a:pPr>
            <a:r>
              <a:rPr lang="en-IN" b="1" dirty="0"/>
              <a:t>To identify career-specific skill gaps</a:t>
            </a:r>
            <a:r>
              <a:rPr lang="en-IN" dirty="0"/>
              <a:t> by comparing the student's current capabilities with the requirements of their desired career role.</a:t>
            </a:r>
          </a:p>
          <a:p>
            <a:pPr marL="285750" lvl="0" indent="-285750">
              <a:buFont typeface="Arial" panose="020B0604020202020204" pitchFamily="34" charset="0"/>
              <a:buChar char="•"/>
            </a:pPr>
            <a:r>
              <a:rPr lang="en-IN" b="1" dirty="0"/>
              <a:t>To implement Agentic AI</a:t>
            </a:r>
            <a:r>
              <a:rPr lang="en-IN" dirty="0"/>
              <a:t> that autonomously generates personalized career-readiness plans based on identified skill gaps.</a:t>
            </a:r>
          </a:p>
          <a:p>
            <a:pPr marL="285750" lvl="0" indent="-285750">
              <a:buFont typeface="Arial" panose="020B0604020202020204" pitchFamily="34" charset="0"/>
              <a:buChar char="•"/>
            </a:pPr>
            <a:r>
              <a:rPr lang="en-IN" b="1" dirty="0"/>
              <a:t>To continuously monitor and evaluate student progress</a:t>
            </a:r>
            <a:r>
              <a:rPr lang="en-IN" dirty="0"/>
              <a:t> and dynamically adapt the career-readiness plan based on performance.</a:t>
            </a:r>
          </a:p>
          <a:p>
            <a:pPr marL="285750" lvl="0" indent="-285750">
              <a:buFont typeface="Arial" panose="020B0604020202020204" pitchFamily="34" charset="0"/>
              <a:buChar char="•"/>
            </a:pPr>
            <a:r>
              <a:rPr lang="en-IN" b="1" dirty="0"/>
              <a:t>To develop an Opportunity Readiness mechanism</a:t>
            </a:r>
            <a:r>
              <a:rPr lang="en-IN" dirty="0"/>
              <a:t> that evaluates a student's suitability for relevant internships, projects, and entry-level opportunities.</a:t>
            </a:r>
          </a:p>
          <a:p>
            <a:pPr marL="285750" lvl="0" indent="-285750">
              <a:buFont typeface="Arial" panose="020B0604020202020204" pitchFamily="34" charset="0"/>
              <a:buChar char="•"/>
            </a:pPr>
            <a:r>
              <a:rPr lang="en-IN" b="1" dirty="0"/>
              <a:t>To implement a secure and scalable SOA-based microservices architecture</a:t>
            </a:r>
            <a:r>
              <a:rPr lang="en-IN" dirty="0"/>
              <a:t> using REST APIs, service discovery, API Gateway, and database-per-service.</a:t>
            </a:r>
          </a:p>
          <a:p>
            <a:pPr marL="285750" lvl="0" indent="-285750">
              <a:buFont typeface="Arial" panose="020B0604020202020204" pitchFamily="34" charset="0"/>
              <a:buChar char="•"/>
            </a:pPr>
            <a:r>
              <a:rPr lang="en-IN" b="1" dirty="0"/>
              <a:t>To integrate event-driven communication using Apache Kafka</a:t>
            </a:r>
            <a:r>
              <a:rPr lang="en-IN" dirty="0"/>
              <a:t> for efficient coordination between microservices and AI agents.</a:t>
            </a:r>
          </a:p>
          <a:p>
            <a:pPr marL="285750" lvl="0" indent="-285750">
              <a:buFont typeface="Arial" panose="020B0604020202020204" pitchFamily="34" charset="0"/>
              <a:buChar char="•"/>
            </a:pPr>
            <a:r>
              <a:rPr lang="en-IN" b="1" dirty="0"/>
              <a:t>To provide an integrated platform</a:t>
            </a:r>
            <a:r>
              <a:rPr lang="en-IN" dirty="0"/>
              <a:t> that bridges the gap between students' existing skills and industry-required career competencies.</a:t>
            </a:r>
          </a:p>
          <a:p>
            <a:endParaRPr lang="en-IN" dirty="0"/>
          </a:p>
        </p:txBody>
      </p:sp>
    </p:spTree>
    <p:extLst>
      <p:ext uri="{BB962C8B-B14F-4D97-AF65-F5344CB8AC3E}">
        <p14:creationId xmlns:p14="http://schemas.microsoft.com/office/powerpoint/2010/main" val="3917782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61C2A-4C3C-F7DE-6690-D2ADB02999B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F744428-A3F2-A6DA-05D1-E71C75B6A811}"/>
              </a:ext>
            </a:extLst>
          </p:cNvPr>
          <p:cNvSpPr txBox="1"/>
          <p:nvPr/>
        </p:nvSpPr>
        <p:spPr>
          <a:xfrm>
            <a:off x="3048000" y="403574"/>
            <a:ext cx="6096000" cy="646331"/>
          </a:xfrm>
          <a:prstGeom prst="rect">
            <a:avLst/>
          </a:prstGeom>
          <a:noFill/>
        </p:spPr>
        <p:txBody>
          <a:bodyPr wrap="square" anchor="ctr">
            <a:spAutoFit/>
          </a:bodyPr>
          <a:lstStyle/>
          <a:p>
            <a:pPr algn="ctr"/>
            <a:r>
              <a:rPr lang="en-US" sz="3600" b="1" dirty="0"/>
              <a:t>Challenges</a:t>
            </a:r>
          </a:p>
        </p:txBody>
      </p:sp>
      <p:pic>
        <p:nvPicPr>
          <p:cNvPr id="3" name="Picture 2">
            <a:extLst>
              <a:ext uri="{FF2B5EF4-FFF2-40B4-BE49-F238E27FC236}">
                <a16:creationId xmlns:a16="http://schemas.microsoft.com/office/drawing/2014/main" id="{E37FEAA4-D9BB-22C2-7904-39E20FE1714C}"/>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A825CC2C-706F-0351-449C-5E50AB0C4631}"/>
              </a:ext>
            </a:extLst>
          </p:cNvPr>
          <p:cNvSpPr>
            <a:spLocks noGrp="1"/>
          </p:cNvSpPr>
          <p:nvPr>
            <p:ph type="dt" sz="half" idx="10"/>
          </p:nvPr>
        </p:nvSpPr>
        <p:spPr/>
        <p:txBody>
          <a:bodyPr/>
          <a:lstStyle/>
          <a:p>
            <a:r>
              <a:rPr lang="en-US"/>
              <a:t>Date 14-08-2026</a:t>
            </a:r>
          </a:p>
        </p:txBody>
      </p:sp>
      <p:sp>
        <p:nvSpPr>
          <p:cNvPr id="4" name="Footer Placeholder 3">
            <a:extLst>
              <a:ext uri="{FF2B5EF4-FFF2-40B4-BE49-F238E27FC236}">
                <a16:creationId xmlns:a16="http://schemas.microsoft.com/office/drawing/2014/main" id="{559A4DA1-1F85-3AF2-3F8F-1C55E3FB0319}"/>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37616B0C-EECC-C6DE-457A-BC3B103EF682}"/>
              </a:ext>
            </a:extLst>
          </p:cNvPr>
          <p:cNvSpPr>
            <a:spLocks noGrp="1"/>
          </p:cNvSpPr>
          <p:nvPr>
            <p:ph type="sldNum" sz="quarter" idx="12"/>
          </p:nvPr>
        </p:nvSpPr>
        <p:spPr/>
        <p:txBody>
          <a:bodyPr/>
          <a:lstStyle/>
          <a:p>
            <a:fld id="{E639234F-78F1-4984-9C4D-D4C7AB587871}" type="slidenum">
              <a:rPr lang="en-US" smtClean="0"/>
              <a:t>8</a:t>
            </a:fld>
            <a:endParaRPr lang="en-US"/>
          </a:p>
        </p:txBody>
      </p:sp>
      <p:sp>
        <p:nvSpPr>
          <p:cNvPr id="7" name="TextBox 6">
            <a:extLst>
              <a:ext uri="{FF2B5EF4-FFF2-40B4-BE49-F238E27FC236}">
                <a16:creationId xmlns:a16="http://schemas.microsoft.com/office/drawing/2014/main" id="{883B1CB8-72CC-1009-6530-7494F0433701}"/>
              </a:ext>
            </a:extLst>
          </p:cNvPr>
          <p:cNvSpPr txBox="1"/>
          <p:nvPr/>
        </p:nvSpPr>
        <p:spPr>
          <a:xfrm>
            <a:off x="361300" y="1856468"/>
            <a:ext cx="11469400" cy="3693319"/>
          </a:xfrm>
          <a:prstGeom prst="rect">
            <a:avLst/>
          </a:prstGeom>
          <a:noFill/>
        </p:spPr>
        <p:txBody>
          <a:bodyPr wrap="square" rtlCol="0">
            <a:spAutoFit/>
          </a:bodyPr>
          <a:lstStyle/>
          <a:p>
            <a:pPr marL="285750" lvl="0" indent="-285750">
              <a:buFont typeface="Arial" panose="020B0604020202020204" pitchFamily="34" charset="0"/>
              <a:buChar char="•"/>
            </a:pPr>
            <a:r>
              <a:rPr lang="en-IN" b="1" dirty="0"/>
              <a:t>Agentic AI Reliability</a:t>
            </a:r>
            <a:r>
              <a:rPr lang="en-IN" dirty="0"/>
              <a:t> – Ensuring AI agents generate accurate, relevant, and consistent career recommendations. </a:t>
            </a:r>
          </a:p>
          <a:p>
            <a:pPr marL="285750" lvl="0" indent="-285750">
              <a:buFont typeface="Arial" panose="020B0604020202020204" pitchFamily="34" charset="0"/>
              <a:buChar char="•"/>
            </a:pPr>
            <a:r>
              <a:rPr lang="en-IN" b="1" dirty="0"/>
              <a:t>Skill-Gap Accuracy</a:t>
            </a:r>
            <a:r>
              <a:rPr lang="en-IN" dirty="0"/>
              <a:t> – Correctly comparing student skills with the changing requirements of target career roles. </a:t>
            </a:r>
          </a:p>
          <a:p>
            <a:pPr marL="285750" lvl="0" indent="-285750">
              <a:buFont typeface="Arial" panose="020B0604020202020204" pitchFamily="34" charset="0"/>
              <a:buChar char="•"/>
            </a:pPr>
            <a:r>
              <a:rPr lang="en-IN" b="1" dirty="0"/>
              <a:t>Multi-Agent Coordination</a:t>
            </a:r>
            <a:r>
              <a:rPr lang="en-IN" dirty="0"/>
              <a:t> – Managing communication and decision-making between multiple AI agents. </a:t>
            </a:r>
          </a:p>
          <a:p>
            <a:pPr marL="285750" lvl="0" indent="-285750">
              <a:buFont typeface="Arial" panose="020B0604020202020204" pitchFamily="34" charset="0"/>
              <a:buChar char="•"/>
            </a:pPr>
            <a:r>
              <a:rPr lang="en-IN" b="1" dirty="0"/>
              <a:t>Microservice Integration</a:t>
            </a:r>
            <a:r>
              <a:rPr lang="en-IN" dirty="0"/>
              <a:t> – Ensuring reliable communication between distributed services using REST APIs and Kafka. </a:t>
            </a:r>
          </a:p>
          <a:p>
            <a:pPr marL="285750" lvl="0" indent="-285750">
              <a:buFont typeface="Arial" panose="020B0604020202020204" pitchFamily="34" charset="0"/>
              <a:buChar char="•"/>
            </a:pPr>
            <a:r>
              <a:rPr lang="en-IN" b="1" dirty="0"/>
              <a:t>Security &amp; Data Privacy</a:t>
            </a:r>
            <a:r>
              <a:rPr lang="en-IN" dirty="0"/>
              <a:t> – Protecting student profiles and career information using JWT, RBAC, CORS, and TLS. </a:t>
            </a:r>
          </a:p>
          <a:p>
            <a:pPr marL="285750" lvl="0" indent="-285750">
              <a:buFont typeface="Arial" panose="020B0604020202020204" pitchFamily="34" charset="0"/>
              <a:buChar char="•"/>
            </a:pPr>
            <a:r>
              <a:rPr lang="en-IN" b="1" dirty="0"/>
              <a:t>Scalability &amp; Performance</a:t>
            </a:r>
            <a:r>
              <a:rPr lang="en-IN" dirty="0"/>
              <a:t> – Maintaining system performance as the number of students, opportunities, and AI requests increases. </a:t>
            </a:r>
          </a:p>
          <a:p>
            <a:pPr marL="285750" lvl="0" indent="-285750">
              <a:buFont typeface="Arial" panose="020B0604020202020204" pitchFamily="34" charset="0"/>
              <a:buChar char="•"/>
            </a:pPr>
            <a:r>
              <a:rPr lang="en-IN" b="1" dirty="0"/>
              <a:t>Continuous Adaptation</a:t>
            </a:r>
            <a:r>
              <a:rPr lang="en-IN" dirty="0"/>
              <a:t> – Dynamically updating career plans based on student progress, assessment results, and changing goals. </a:t>
            </a:r>
          </a:p>
          <a:p>
            <a:pPr marL="285750" lvl="0" indent="-285750">
              <a:buFont typeface="Arial" panose="020B0604020202020204" pitchFamily="34" charset="0"/>
              <a:buChar char="•"/>
            </a:pPr>
            <a:r>
              <a:rPr lang="en-IN" b="1" dirty="0"/>
              <a:t>Testing Distributed Components</a:t>
            </a:r>
            <a:r>
              <a:rPr lang="en-IN" dirty="0"/>
              <a:t> – Performing reliable unit, integration, contract, and API testing across multiple services.</a:t>
            </a:r>
          </a:p>
        </p:txBody>
      </p:sp>
    </p:spTree>
    <p:extLst>
      <p:ext uri="{BB962C8B-B14F-4D97-AF65-F5344CB8AC3E}">
        <p14:creationId xmlns:p14="http://schemas.microsoft.com/office/powerpoint/2010/main" val="1309484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6A5D6F68-EB59-FEE8-F640-39995D8FC692}"/>
              </a:ext>
            </a:extLst>
          </p:cNvPr>
          <p:cNvSpPr>
            <a:spLocks noGrp="1"/>
          </p:cNvSpPr>
          <p:nvPr>
            <p:ph type="dt" sz="half" idx="10"/>
          </p:nvPr>
        </p:nvSpPr>
        <p:spPr/>
        <p:txBody>
          <a:bodyPr/>
          <a:lstStyle/>
          <a:p>
            <a:r>
              <a:rPr lang="en-US"/>
              <a:t>Date 14-08-2026</a:t>
            </a:r>
          </a:p>
        </p:txBody>
      </p:sp>
      <p:sp>
        <p:nvSpPr>
          <p:cNvPr id="4" name="Footer Placeholder 3">
            <a:extLst>
              <a:ext uri="{FF2B5EF4-FFF2-40B4-BE49-F238E27FC236}">
                <a16:creationId xmlns:a16="http://schemas.microsoft.com/office/drawing/2014/main" id="{47738B8D-115D-75EC-C540-C444CF6A145E}"/>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4AD575AA-0762-8AC2-8D47-5BF6B20F5DBC}"/>
              </a:ext>
            </a:extLst>
          </p:cNvPr>
          <p:cNvSpPr>
            <a:spLocks noGrp="1"/>
          </p:cNvSpPr>
          <p:nvPr>
            <p:ph type="sldNum" sz="quarter" idx="12"/>
          </p:nvPr>
        </p:nvSpPr>
        <p:spPr/>
        <p:txBody>
          <a:bodyPr/>
          <a:lstStyle/>
          <a:p>
            <a:fld id="{E639234F-78F1-4984-9C4D-D4C7AB587871}" type="slidenum">
              <a:rPr lang="en-US" smtClean="0"/>
              <a:t>9</a:t>
            </a:fld>
            <a:endParaRPr lang="en-US"/>
          </a:p>
        </p:txBody>
      </p:sp>
      <p:sp>
        <p:nvSpPr>
          <p:cNvPr id="7" name="TextBox 6">
            <a:extLst>
              <a:ext uri="{FF2B5EF4-FFF2-40B4-BE49-F238E27FC236}">
                <a16:creationId xmlns:a16="http://schemas.microsoft.com/office/drawing/2014/main" id="{966CA335-6D71-E178-FDD8-05B79CCC8867}"/>
              </a:ext>
            </a:extLst>
          </p:cNvPr>
          <p:cNvSpPr txBox="1"/>
          <p:nvPr/>
        </p:nvSpPr>
        <p:spPr>
          <a:xfrm>
            <a:off x="802409" y="1677721"/>
            <a:ext cx="10587181" cy="4247317"/>
          </a:xfrm>
          <a:prstGeom prst="rect">
            <a:avLst/>
          </a:prstGeom>
          <a:noFill/>
        </p:spPr>
        <p:txBody>
          <a:bodyPr wrap="square" rtlCol="0">
            <a:spAutoFit/>
          </a:bodyPr>
          <a:lstStyle/>
          <a:p>
            <a:pPr marL="285750" lvl="0" indent="-285750">
              <a:buFont typeface="Arial" panose="020B0604020202020204" pitchFamily="34" charset="0"/>
              <a:buChar char="•"/>
            </a:pPr>
            <a:r>
              <a:rPr lang="en-IN" dirty="0"/>
              <a:t>Existing career platforms mainly provide </a:t>
            </a:r>
            <a:r>
              <a:rPr lang="en-IN" b="1" dirty="0"/>
              <a:t>job recommendations, course suggestions, or skill tracking as separate functionalities</a:t>
            </a:r>
            <a:r>
              <a:rPr lang="en-IN" dirty="0"/>
              <a:t>.</a:t>
            </a:r>
          </a:p>
          <a:p>
            <a:pPr marL="285750" lvl="0" indent="-285750">
              <a:buFont typeface="Arial" panose="020B0604020202020204" pitchFamily="34" charset="0"/>
              <a:buChar char="•"/>
            </a:pPr>
            <a:r>
              <a:rPr lang="en-IN" dirty="0"/>
              <a:t>Most systems do not provide </a:t>
            </a:r>
            <a:r>
              <a:rPr lang="en-IN" b="1" dirty="0"/>
              <a:t>continuous career-readiness assessment</a:t>
            </a:r>
            <a:r>
              <a:rPr lang="en-IN" dirty="0"/>
              <a:t> based on a student's changing skills and performance.</a:t>
            </a:r>
          </a:p>
          <a:p>
            <a:pPr marL="285750" lvl="0" indent="-285750">
              <a:buFont typeface="Arial" panose="020B0604020202020204" pitchFamily="34" charset="0"/>
              <a:buChar char="•"/>
            </a:pPr>
            <a:r>
              <a:rPr lang="en-IN" dirty="0"/>
              <a:t>Existing approaches often identify skill gaps but do not </a:t>
            </a:r>
            <a:r>
              <a:rPr lang="en-IN" b="1" dirty="0"/>
              <a:t>autonomously convert those gaps into an adaptive action plan</a:t>
            </a:r>
            <a:r>
              <a:rPr lang="en-IN" dirty="0"/>
              <a:t>.</a:t>
            </a:r>
          </a:p>
          <a:p>
            <a:pPr marL="285750" lvl="0" indent="-285750">
              <a:buFont typeface="Arial" panose="020B0604020202020204" pitchFamily="34" charset="0"/>
              <a:buChar char="•"/>
            </a:pPr>
            <a:r>
              <a:rPr lang="en-IN" dirty="0"/>
              <a:t>There is limited use of </a:t>
            </a:r>
            <a:r>
              <a:rPr lang="en-IN" b="1" dirty="0"/>
              <a:t>Agentic AI for continuous assessment, planning, monitoring, and recovery</a:t>
            </a:r>
            <a:r>
              <a:rPr lang="en-IN" dirty="0"/>
              <a:t> throughout the career-preparation process.</a:t>
            </a:r>
          </a:p>
          <a:p>
            <a:pPr marL="285750" lvl="0" indent="-285750">
              <a:buFont typeface="Arial" panose="020B0604020202020204" pitchFamily="34" charset="0"/>
              <a:buChar char="•"/>
            </a:pPr>
            <a:r>
              <a:rPr lang="en-IN" dirty="0"/>
              <a:t>Current systems generally lack an </a:t>
            </a:r>
            <a:r>
              <a:rPr lang="en-IN" b="1" dirty="0"/>
              <a:t>Opportunity Readiness Score</a:t>
            </a:r>
            <a:r>
              <a:rPr lang="en-IN" dirty="0"/>
              <a:t> that indicates how prepared a student is for a specific career opportunity.</a:t>
            </a:r>
          </a:p>
          <a:p>
            <a:pPr marL="285750" lvl="0" indent="-285750">
              <a:buFont typeface="Arial" panose="020B0604020202020204" pitchFamily="34" charset="0"/>
              <a:buChar char="•"/>
            </a:pPr>
            <a:r>
              <a:rPr lang="en-IN" dirty="0"/>
              <a:t>There is a need to integrate </a:t>
            </a:r>
            <a:r>
              <a:rPr lang="en-IN" b="1" dirty="0"/>
              <a:t>AI agents with SOA-based microservices and event-driven communication</a:t>
            </a:r>
            <a:r>
              <a:rPr lang="en-IN" dirty="0"/>
              <a:t> to create a scalable and adaptive career-readiness platform.</a:t>
            </a:r>
          </a:p>
          <a:p>
            <a:pPr marL="285750" lvl="0" indent="-285750">
              <a:buFont typeface="Arial" panose="020B0604020202020204" pitchFamily="34" charset="0"/>
              <a:buChar char="•"/>
            </a:pPr>
            <a:r>
              <a:rPr lang="en-IN" b="1" dirty="0"/>
              <a:t>SkillBridge AI addresses these gaps by connecting skill assessment, gap identification, adaptive planning, progress evaluation, recovery, and opportunity matching into one continuous workflow.</a:t>
            </a:r>
            <a:endParaRPr lang="en-IN" dirty="0"/>
          </a:p>
          <a:p>
            <a:endParaRPr lang="en-IN" dirty="0"/>
          </a:p>
        </p:txBody>
      </p:sp>
    </p:spTree>
    <p:extLst>
      <p:ext uri="{BB962C8B-B14F-4D97-AF65-F5344CB8AC3E}">
        <p14:creationId xmlns:p14="http://schemas.microsoft.com/office/powerpoint/2010/main" val="2065876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F054FDD-7384-3D2E-BE77-89D1DE6AA01E}"/>
              </a:ext>
            </a:extLst>
          </p:cNvPr>
          <p:cNvSpPr>
            <a:spLocks noGrp="1"/>
          </p:cNvSpPr>
          <p:nvPr>
            <p:ph type="dt" sz="half" idx="10"/>
          </p:nvPr>
        </p:nvSpPr>
        <p:spPr/>
        <p:txBody>
          <a:bodyPr/>
          <a:lstStyle/>
          <a:p>
            <a:r>
              <a:rPr lang="en-US"/>
              <a:t>Date 14-08-2026</a:t>
            </a:r>
          </a:p>
        </p:txBody>
      </p:sp>
      <p:sp>
        <p:nvSpPr>
          <p:cNvPr id="4" name="Footer Placeholder 3">
            <a:extLst>
              <a:ext uri="{FF2B5EF4-FFF2-40B4-BE49-F238E27FC236}">
                <a16:creationId xmlns:a16="http://schemas.microsoft.com/office/drawing/2014/main" id="{23385C8F-423C-A8D0-6CEF-B161FA361B9E}"/>
              </a:ext>
            </a:extLst>
          </p:cNvPr>
          <p:cNvSpPr>
            <a:spLocks noGrp="1"/>
          </p:cNvSpPr>
          <p:nvPr>
            <p:ph type="ftr" sz="quarter" idx="11"/>
          </p:nvPr>
        </p:nvSpPr>
        <p:spPr/>
        <p:txBody>
          <a:bodyPr/>
          <a:lstStyle/>
          <a:p>
            <a:r>
              <a:rPr lang="en-US"/>
              <a:t>SOA Project Review-1</a:t>
            </a:r>
          </a:p>
        </p:txBody>
      </p:sp>
      <p:sp>
        <p:nvSpPr>
          <p:cNvPr id="6" name="Slide Number Placeholder 5">
            <a:extLst>
              <a:ext uri="{FF2B5EF4-FFF2-40B4-BE49-F238E27FC236}">
                <a16:creationId xmlns:a16="http://schemas.microsoft.com/office/drawing/2014/main" id="{DB6DBE72-10FE-2921-1554-8E07A5D9174A}"/>
              </a:ext>
            </a:extLst>
          </p:cNvPr>
          <p:cNvSpPr>
            <a:spLocks noGrp="1"/>
          </p:cNvSpPr>
          <p:nvPr>
            <p:ph type="sldNum" sz="quarter" idx="12"/>
          </p:nvPr>
        </p:nvSpPr>
        <p:spPr/>
        <p:txBody>
          <a:bodyPr/>
          <a:lstStyle/>
          <a:p>
            <a:fld id="{E639234F-78F1-4984-9C4D-D4C7AB587871}" type="slidenum">
              <a:rPr lang="en-US" smtClean="0"/>
              <a:t>10</a:t>
            </a:fld>
            <a:endParaRPr lang="en-US"/>
          </a:p>
        </p:txBody>
      </p:sp>
      <p:sp>
        <p:nvSpPr>
          <p:cNvPr id="7" name="TextBox 6">
            <a:extLst>
              <a:ext uri="{FF2B5EF4-FFF2-40B4-BE49-F238E27FC236}">
                <a16:creationId xmlns:a16="http://schemas.microsoft.com/office/drawing/2014/main" id="{BB942214-B9EC-E976-C596-D4972AD82313}"/>
              </a:ext>
            </a:extLst>
          </p:cNvPr>
          <p:cNvSpPr txBox="1"/>
          <p:nvPr/>
        </p:nvSpPr>
        <p:spPr>
          <a:xfrm>
            <a:off x="577239" y="1522858"/>
            <a:ext cx="11037520" cy="4524315"/>
          </a:xfrm>
          <a:prstGeom prst="rect">
            <a:avLst/>
          </a:prstGeom>
          <a:noFill/>
        </p:spPr>
        <p:txBody>
          <a:bodyPr wrap="square" rtlCol="0">
            <a:spAutoFit/>
          </a:bodyPr>
          <a:lstStyle/>
          <a:p>
            <a:r>
              <a:rPr lang="en-IN" b="1" dirty="0"/>
              <a:t>1. AI Career Digital Twin</a:t>
            </a:r>
          </a:p>
          <a:p>
            <a:r>
              <a:rPr lang="en-IN" dirty="0"/>
              <a:t>Dynamic student profile containing skills, projects, certifications, assessments, and career goals.</a:t>
            </a:r>
          </a:p>
          <a:p>
            <a:r>
              <a:rPr lang="en-IN" b="1" dirty="0"/>
              <a:t>2. Autonomous Gap-to-Action Planning</a:t>
            </a:r>
          </a:p>
          <a:p>
            <a:r>
              <a:rPr lang="en-IN" dirty="0"/>
              <a:t>AI identifies career-specific skill gaps and automatically generates a prioritized improvement plan.</a:t>
            </a:r>
          </a:p>
          <a:p>
            <a:r>
              <a:rPr lang="en-IN" b="1" dirty="0"/>
              <a:t>3. Adaptive Career Recovery Agent</a:t>
            </a:r>
          </a:p>
          <a:p>
            <a:r>
              <a:rPr lang="en-IN" dirty="0"/>
              <a:t>Detects poor performance or delays and dynamically modifies the student's career-readiness plan.</a:t>
            </a:r>
          </a:p>
          <a:p>
            <a:r>
              <a:rPr lang="en-IN" b="1" dirty="0"/>
              <a:t>4. Opportunity Readiness Score</a:t>
            </a:r>
          </a:p>
          <a:p>
            <a:r>
              <a:rPr lang="en-IN" dirty="0"/>
              <a:t>Evaluates how prepared a student is for a specific internship, project, or entry-level opportunity.</a:t>
            </a:r>
          </a:p>
          <a:p>
            <a:r>
              <a:rPr lang="en-IN" b="1" dirty="0"/>
              <a:t>5. Agentic SOA Orchestration</a:t>
            </a:r>
          </a:p>
          <a:p>
            <a:r>
              <a:rPr lang="en-IN" dirty="0"/>
              <a:t>Multiple AI agents work with SOA microservices and event-driven communication to </a:t>
            </a:r>
            <a:r>
              <a:rPr lang="en-IN" b="1" dirty="0"/>
              <a:t>Assess → Plan → Act → Evaluate → Adapt → Match</a:t>
            </a:r>
            <a:r>
              <a:rPr lang="en-IN" dirty="0"/>
              <a:t>.</a:t>
            </a:r>
          </a:p>
          <a:p>
            <a:endParaRPr lang="en-IN" dirty="0"/>
          </a:p>
          <a:p>
            <a:r>
              <a:rPr lang="en-IN" b="1" dirty="0"/>
              <a:t>Core Novelty</a:t>
            </a:r>
          </a:p>
          <a:p>
            <a:r>
              <a:rPr lang="en-IN" dirty="0"/>
              <a:t>A continuously adapting Agentic AI platform that transforms skill gaps into actionable career plans and evaluates real-world opportunity readiness.</a:t>
            </a:r>
          </a:p>
          <a:p>
            <a:endParaRPr lang="en-IN" dirty="0"/>
          </a:p>
        </p:txBody>
      </p:sp>
    </p:spTree>
    <p:extLst>
      <p:ext uri="{BB962C8B-B14F-4D97-AF65-F5344CB8AC3E}">
        <p14:creationId xmlns:p14="http://schemas.microsoft.com/office/powerpoint/2010/main" val="3524135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CA89BFCE-320A-6A24-78DB-53FD3A807AAD}"/>
              </a:ext>
            </a:extLst>
          </p:cNvPr>
          <p:cNvSpPr>
            <a:spLocks noGrp="1"/>
          </p:cNvSpPr>
          <p:nvPr>
            <p:ph type="dt" sz="half" idx="10"/>
          </p:nvPr>
        </p:nvSpPr>
        <p:spPr/>
        <p:txBody>
          <a:bodyPr/>
          <a:lstStyle/>
          <a:p>
            <a:r>
              <a:rPr lang="en-US"/>
              <a:t>Date 14-08-2026</a:t>
            </a:r>
          </a:p>
        </p:txBody>
      </p:sp>
      <p:sp>
        <p:nvSpPr>
          <p:cNvPr id="6" name="Footer Placeholder 5">
            <a:extLst>
              <a:ext uri="{FF2B5EF4-FFF2-40B4-BE49-F238E27FC236}">
                <a16:creationId xmlns:a16="http://schemas.microsoft.com/office/drawing/2014/main" id="{24A1CE0D-6967-CEF8-BC2F-E0774E139C98}"/>
              </a:ext>
            </a:extLst>
          </p:cNvPr>
          <p:cNvSpPr>
            <a:spLocks noGrp="1"/>
          </p:cNvSpPr>
          <p:nvPr>
            <p:ph type="ftr" sz="quarter" idx="11"/>
          </p:nvPr>
        </p:nvSpPr>
        <p:spPr/>
        <p:txBody>
          <a:bodyPr/>
          <a:lstStyle/>
          <a:p>
            <a:r>
              <a:rPr lang="en-US"/>
              <a:t>SOA Project Review-1</a:t>
            </a:r>
          </a:p>
        </p:txBody>
      </p:sp>
      <p:sp>
        <p:nvSpPr>
          <p:cNvPr id="7" name="Slide Number Placeholder 6">
            <a:extLst>
              <a:ext uri="{FF2B5EF4-FFF2-40B4-BE49-F238E27FC236}">
                <a16:creationId xmlns:a16="http://schemas.microsoft.com/office/drawing/2014/main" id="{36D51BE7-A45C-615C-838A-5A7DEBC6C8D1}"/>
              </a:ext>
            </a:extLst>
          </p:cNvPr>
          <p:cNvSpPr>
            <a:spLocks noGrp="1"/>
          </p:cNvSpPr>
          <p:nvPr>
            <p:ph type="sldNum" sz="quarter" idx="12"/>
          </p:nvPr>
        </p:nvSpPr>
        <p:spPr/>
        <p:txBody>
          <a:bodyPr/>
          <a:lstStyle/>
          <a:p>
            <a:fld id="{E639234F-78F1-4984-9C4D-D4C7AB587871}" type="slidenum">
              <a:rPr lang="en-US" smtClean="0"/>
              <a:t>11</a:t>
            </a:fld>
            <a:endParaRPr lang="en-US"/>
          </a:p>
        </p:txBody>
      </p:sp>
      <p:graphicFrame>
        <p:nvGraphicFramePr>
          <p:cNvPr id="8" name="Table 7">
            <a:extLst>
              <a:ext uri="{FF2B5EF4-FFF2-40B4-BE49-F238E27FC236}">
                <a16:creationId xmlns:a16="http://schemas.microsoft.com/office/drawing/2014/main" id="{E67A203D-F011-759C-4429-4907082050B5}"/>
              </a:ext>
            </a:extLst>
          </p:cNvPr>
          <p:cNvGraphicFramePr>
            <a:graphicFrameLocks noGrp="1"/>
          </p:cNvGraphicFramePr>
          <p:nvPr>
            <p:extLst>
              <p:ext uri="{D42A27DB-BD31-4B8C-83A1-F6EECF244321}">
                <p14:modId xmlns:p14="http://schemas.microsoft.com/office/powerpoint/2010/main" val="2464662349"/>
              </p:ext>
            </p:extLst>
          </p:nvPr>
        </p:nvGraphicFramePr>
        <p:xfrm>
          <a:off x="2402158" y="1616382"/>
          <a:ext cx="7660457" cy="4382529"/>
        </p:xfrm>
        <a:graphic>
          <a:graphicData uri="http://schemas.openxmlformats.org/drawingml/2006/table">
            <a:tbl>
              <a:tblPr/>
              <a:tblGrid>
                <a:gridCol w="1094351">
                  <a:extLst>
                    <a:ext uri="{9D8B030D-6E8A-4147-A177-3AD203B41FA5}">
                      <a16:colId xmlns:a16="http://schemas.microsoft.com/office/drawing/2014/main" val="523296270"/>
                    </a:ext>
                  </a:extLst>
                </a:gridCol>
                <a:gridCol w="1094351">
                  <a:extLst>
                    <a:ext uri="{9D8B030D-6E8A-4147-A177-3AD203B41FA5}">
                      <a16:colId xmlns:a16="http://schemas.microsoft.com/office/drawing/2014/main" val="2460641533"/>
                    </a:ext>
                  </a:extLst>
                </a:gridCol>
                <a:gridCol w="1094351">
                  <a:extLst>
                    <a:ext uri="{9D8B030D-6E8A-4147-A177-3AD203B41FA5}">
                      <a16:colId xmlns:a16="http://schemas.microsoft.com/office/drawing/2014/main" val="3538919287"/>
                    </a:ext>
                  </a:extLst>
                </a:gridCol>
                <a:gridCol w="1094351">
                  <a:extLst>
                    <a:ext uri="{9D8B030D-6E8A-4147-A177-3AD203B41FA5}">
                      <a16:colId xmlns:a16="http://schemas.microsoft.com/office/drawing/2014/main" val="3866426761"/>
                    </a:ext>
                  </a:extLst>
                </a:gridCol>
                <a:gridCol w="1094351">
                  <a:extLst>
                    <a:ext uri="{9D8B030D-6E8A-4147-A177-3AD203B41FA5}">
                      <a16:colId xmlns:a16="http://schemas.microsoft.com/office/drawing/2014/main" val="697580871"/>
                    </a:ext>
                  </a:extLst>
                </a:gridCol>
                <a:gridCol w="1094351">
                  <a:extLst>
                    <a:ext uri="{9D8B030D-6E8A-4147-A177-3AD203B41FA5}">
                      <a16:colId xmlns:a16="http://schemas.microsoft.com/office/drawing/2014/main" val="1161621613"/>
                    </a:ext>
                  </a:extLst>
                </a:gridCol>
                <a:gridCol w="1094351">
                  <a:extLst>
                    <a:ext uri="{9D8B030D-6E8A-4147-A177-3AD203B41FA5}">
                      <a16:colId xmlns:a16="http://schemas.microsoft.com/office/drawing/2014/main" val="2778207020"/>
                    </a:ext>
                  </a:extLst>
                </a:gridCol>
              </a:tblGrid>
              <a:tr h="385562">
                <a:tc>
                  <a:txBody>
                    <a:bodyPr/>
                    <a:lstStyle/>
                    <a:p>
                      <a:pPr>
                        <a:buNone/>
                      </a:pPr>
                      <a:r>
                        <a:rPr lang="en-IN" sz="1100" dirty="0"/>
                        <a:t>Project Phase</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a:t>W1–2</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a:t>W3–4</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a:t>W5–7</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a:t>W8–9</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a:t>W10–11</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a:t>W12</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170473"/>
                  </a:ext>
                </a:extLst>
              </a:tr>
              <a:tr h="716043">
                <a:tc>
                  <a:txBody>
                    <a:bodyPr/>
                    <a:lstStyle/>
                    <a:p>
                      <a:pPr>
                        <a:buNone/>
                      </a:pPr>
                      <a:r>
                        <a:rPr lang="en-IN" sz="1100" dirty="0"/>
                        <a:t>Problem Identification &amp; Literature Survey</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dirty="0"/>
                        <a:t>✓</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dirty="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7403881"/>
                  </a:ext>
                </a:extLst>
              </a:tr>
              <a:tr h="550802">
                <a:tc>
                  <a:txBody>
                    <a:bodyPr/>
                    <a:lstStyle/>
                    <a:p>
                      <a:pPr>
                        <a:buNone/>
                      </a:pPr>
                      <a:r>
                        <a:rPr lang="en-IN" sz="1100"/>
                        <a:t>Requirements &amp; SOA Architecture</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dirty="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dirty="0"/>
                        <a:t>✓</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5705400"/>
                  </a:ext>
                </a:extLst>
              </a:tr>
              <a:tr h="716043">
                <a:tc>
                  <a:txBody>
                    <a:bodyPr/>
                    <a:lstStyle/>
                    <a:p>
                      <a:pPr>
                        <a:buNone/>
                      </a:pPr>
                      <a:r>
                        <a:rPr lang="en-IN" sz="1100"/>
                        <a:t>Microservices Development</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dirty="0"/>
                        <a:t>✓</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dirty="0"/>
                        <a:t>✓</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dirty="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8496741"/>
                  </a:ext>
                </a:extLst>
              </a:tr>
              <a:tr h="550802">
                <a:tc>
                  <a:txBody>
                    <a:bodyPr/>
                    <a:lstStyle/>
                    <a:p>
                      <a:pPr>
                        <a:buNone/>
                      </a:pPr>
                      <a:r>
                        <a:rPr lang="en-IN" sz="1100"/>
                        <a:t>Agentic AI &amp; Kafka Integration</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dirty="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dirty="0"/>
                        <a:t>✓</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dirty="0"/>
                        <a:t>✓</a:t>
                      </a:r>
                    </a:p>
                    <a:p>
                      <a:pPr algn="ctr">
                        <a:buNone/>
                      </a:pPr>
                      <a:endParaRPr lang="en-IN" sz="1100" dirty="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3102023"/>
                  </a:ext>
                </a:extLst>
              </a:tr>
              <a:tr h="550802">
                <a:tc>
                  <a:txBody>
                    <a:bodyPr/>
                    <a:lstStyle/>
                    <a:p>
                      <a:pPr>
                        <a:buNone/>
                      </a:pPr>
                      <a:r>
                        <a:rPr lang="en-IN" sz="1100"/>
                        <a:t>Security, Frontend &amp; Integration</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dirty="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dirty="0"/>
                        <a:t>✓</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2645023"/>
                  </a:ext>
                </a:extLst>
              </a:tr>
              <a:tr h="881284">
                <a:tc>
                  <a:txBody>
                    <a:bodyPr/>
                    <a:lstStyle/>
                    <a:p>
                      <a:pPr>
                        <a:buNone/>
                      </a:pPr>
                      <a:r>
                        <a:rPr lang="en-IN" sz="1100"/>
                        <a:t>Testing, CI/CD &amp; Final Demonstration</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sz="1100" dirty="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100" dirty="0"/>
                        <a:t>✓</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1237462"/>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9C131-654E-069C-13A7-DBB4290F2B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1618202-EFB7-A186-E9F0-CB68060446E2}"/>
              </a:ext>
            </a:extLst>
          </p:cNvPr>
          <p:cNvSpPr txBox="1"/>
          <p:nvPr/>
        </p:nvSpPr>
        <p:spPr>
          <a:xfrm>
            <a:off x="2615380" y="551058"/>
            <a:ext cx="7234014" cy="707886"/>
          </a:xfrm>
          <a:prstGeom prst="rect">
            <a:avLst/>
          </a:prstGeom>
          <a:noFill/>
        </p:spPr>
        <p:txBody>
          <a:bodyPr wrap="square">
            <a:spAutoFit/>
          </a:bodyPr>
          <a:lstStyle/>
          <a:p>
            <a:pPr algn="ctr"/>
            <a:r>
              <a:rPr lang="en-US" sz="4000" b="1" dirty="0"/>
              <a:t>Conclusion </a:t>
            </a:r>
            <a:r>
              <a:rPr lang="en-IN" sz="4000" dirty="0"/>
              <a:t>&amp; </a:t>
            </a:r>
            <a:r>
              <a:rPr lang="en-US" sz="4000" b="1" dirty="0"/>
              <a:t>Future Work</a:t>
            </a:r>
            <a:r>
              <a:rPr lang="en-IN" sz="4000" dirty="0"/>
              <a:t> </a:t>
            </a:r>
            <a:endParaRPr lang="en-US" sz="4000" b="1" dirty="0"/>
          </a:p>
        </p:txBody>
      </p:sp>
      <p:pic>
        <p:nvPicPr>
          <p:cNvPr id="4" name="Picture 3">
            <a:extLst>
              <a:ext uri="{FF2B5EF4-FFF2-40B4-BE49-F238E27FC236}">
                <a16:creationId xmlns:a16="http://schemas.microsoft.com/office/drawing/2014/main" id="{671879BD-2558-9A97-01C5-B55FC2FB9194}"/>
              </a:ext>
            </a:extLst>
          </p:cNvPr>
          <p:cNvPicPr>
            <a:picLocks noChangeAspect="1"/>
          </p:cNvPicPr>
          <p:nvPr/>
        </p:nvPicPr>
        <p:blipFill>
          <a:blip r:embed="rId3"/>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E942801F-4481-F58F-B7A9-D23EEF02933B}"/>
              </a:ext>
            </a:extLst>
          </p:cNvPr>
          <p:cNvSpPr>
            <a:spLocks noGrp="1"/>
          </p:cNvSpPr>
          <p:nvPr>
            <p:ph type="dt" sz="half" idx="10"/>
          </p:nvPr>
        </p:nvSpPr>
        <p:spPr/>
        <p:txBody>
          <a:bodyPr/>
          <a:lstStyle/>
          <a:p>
            <a:r>
              <a:rPr lang="en-US"/>
              <a:t>Date 14-08-2026</a:t>
            </a:r>
          </a:p>
        </p:txBody>
      </p:sp>
      <p:sp>
        <p:nvSpPr>
          <p:cNvPr id="6" name="Footer Placeholder 5">
            <a:extLst>
              <a:ext uri="{FF2B5EF4-FFF2-40B4-BE49-F238E27FC236}">
                <a16:creationId xmlns:a16="http://schemas.microsoft.com/office/drawing/2014/main" id="{D7CEAC6D-5A0D-8FE6-8959-F14EAD945BEB}"/>
              </a:ext>
            </a:extLst>
          </p:cNvPr>
          <p:cNvSpPr>
            <a:spLocks noGrp="1"/>
          </p:cNvSpPr>
          <p:nvPr>
            <p:ph type="ftr" sz="quarter" idx="11"/>
          </p:nvPr>
        </p:nvSpPr>
        <p:spPr/>
        <p:txBody>
          <a:bodyPr/>
          <a:lstStyle/>
          <a:p>
            <a:r>
              <a:rPr lang="en-US"/>
              <a:t>SOA Project Review-1</a:t>
            </a:r>
          </a:p>
        </p:txBody>
      </p:sp>
      <p:sp>
        <p:nvSpPr>
          <p:cNvPr id="7" name="Slide Number Placeholder 6">
            <a:extLst>
              <a:ext uri="{FF2B5EF4-FFF2-40B4-BE49-F238E27FC236}">
                <a16:creationId xmlns:a16="http://schemas.microsoft.com/office/drawing/2014/main" id="{783B0D35-365F-A197-08ED-8825397935A5}"/>
              </a:ext>
            </a:extLst>
          </p:cNvPr>
          <p:cNvSpPr>
            <a:spLocks noGrp="1"/>
          </p:cNvSpPr>
          <p:nvPr>
            <p:ph type="sldNum" sz="quarter" idx="12"/>
          </p:nvPr>
        </p:nvSpPr>
        <p:spPr/>
        <p:txBody>
          <a:bodyPr/>
          <a:lstStyle/>
          <a:p>
            <a:fld id="{E639234F-78F1-4984-9C4D-D4C7AB587871}" type="slidenum">
              <a:rPr lang="en-US" smtClean="0"/>
              <a:t>12</a:t>
            </a:fld>
            <a:endParaRPr lang="en-US"/>
          </a:p>
        </p:txBody>
      </p:sp>
      <p:sp>
        <p:nvSpPr>
          <p:cNvPr id="2" name="TextBox 1">
            <a:extLst>
              <a:ext uri="{FF2B5EF4-FFF2-40B4-BE49-F238E27FC236}">
                <a16:creationId xmlns:a16="http://schemas.microsoft.com/office/drawing/2014/main" id="{3BE77A67-5220-B45F-5EEA-2DF90310C7C7}"/>
              </a:ext>
            </a:extLst>
          </p:cNvPr>
          <p:cNvSpPr txBox="1"/>
          <p:nvPr/>
        </p:nvSpPr>
        <p:spPr>
          <a:xfrm>
            <a:off x="1439161" y="1183600"/>
            <a:ext cx="9586451" cy="5355312"/>
          </a:xfrm>
          <a:prstGeom prst="rect">
            <a:avLst/>
          </a:prstGeom>
          <a:noFill/>
        </p:spPr>
        <p:txBody>
          <a:bodyPr wrap="square" rtlCol="0">
            <a:spAutoFit/>
          </a:bodyPr>
          <a:lstStyle/>
          <a:p>
            <a:r>
              <a:rPr lang="en-IN" b="1" dirty="0"/>
              <a:t>Conclusion</a:t>
            </a:r>
          </a:p>
          <a:p>
            <a:pPr marL="285750" lvl="0" indent="-285750">
              <a:buFont typeface="Arial" panose="020B0604020202020204" pitchFamily="34" charset="0"/>
              <a:buChar char="•"/>
            </a:pPr>
            <a:r>
              <a:rPr lang="en-IN" b="1" dirty="0"/>
              <a:t>SkillBridge AI</a:t>
            </a:r>
            <a:r>
              <a:rPr lang="en-IN" dirty="0"/>
              <a:t> proposes an agentic AI platform for personalized career-readiness assessment and opportunity orchestration. </a:t>
            </a:r>
          </a:p>
          <a:p>
            <a:pPr marL="285750" lvl="0" indent="-285750">
              <a:buFont typeface="Arial" panose="020B0604020202020204" pitchFamily="34" charset="0"/>
              <a:buChar char="•"/>
            </a:pPr>
            <a:r>
              <a:rPr lang="en-IN" dirty="0"/>
              <a:t>The system identifies </a:t>
            </a:r>
            <a:r>
              <a:rPr lang="en-IN" b="1" dirty="0"/>
              <a:t>career-specific skill gaps</a:t>
            </a:r>
            <a:r>
              <a:rPr lang="en-IN" dirty="0"/>
              <a:t> and generates adaptive plans to improve student competencies. </a:t>
            </a:r>
          </a:p>
          <a:p>
            <a:pPr marL="285750" lvl="0" indent="-285750">
              <a:buFont typeface="Arial" panose="020B0604020202020204" pitchFamily="34" charset="0"/>
              <a:buChar char="•"/>
            </a:pPr>
            <a:r>
              <a:rPr lang="en-IN" dirty="0"/>
              <a:t>Multiple AI agents continuously </a:t>
            </a:r>
            <a:r>
              <a:rPr lang="en-IN" b="1" dirty="0"/>
              <a:t>assess, plan, monitor, evaluate, and adapt</a:t>
            </a:r>
            <a:r>
              <a:rPr lang="en-IN" dirty="0"/>
              <a:t> the student's career-readiness journey. </a:t>
            </a:r>
          </a:p>
          <a:p>
            <a:pPr marL="285750" lvl="0" indent="-285750">
              <a:buFont typeface="Arial" panose="020B0604020202020204" pitchFamily="34" charset="0"/>
              <a:buChar char="•"/>
            </a:pPr>
            <a:r>
              <a:rPr lang="en-IN" dirty="0"/>
              <a:t>A </a:t>
            </a:r>
            <a:r>
              <a:rPr lang="en-IN" b="1" dirty="0"/>
              <a:t>SOA-based microservices architecture</a:t>
            </a:r>
            <a:r>
              <a:rPr lang="en-IN" dirty="0"/>
              <a:t> provides scalability, secure communication, and independent service management. </a:t>
            </a:r>
          </a:p>
          <a:p>
            <a:pPr marL="285750" lvl="0" indent="-285750">
              <a:buFont typeface="Arial" panose="020B0604020202020204" pitchFamily="34" charset="0"/>
              <a:buChar char="•"/>
            </a:pPr>
            <a:r>
              <a:rPr lang="en-IN" dirty="0"/>
              <a:t>The platform aims to bridge the gap between </a:t>
            </a:r>
            <a:r>
              <a:rPr lang="en-IN" b="1" dirty="0"/>
              <a:t>academic skills and industry career requirements</a:t>
            </a:r>
            <a:r>
              <a:rPr lang="en-IN" dirty="0"/>
              <a:t>. </a:t>
            </a:r>
          </a:p>
          <a:p>
            <a:r>
              <a:rPr lang="en-IN" b="1" dirty="0"/>
              <a:t>Future Work</a:t>
            </a:r>
          </a:p>
          <a:p>
            <a:pPr marL="285750" lvl="0" indent="-285750">
              <a:buFont typeface="Arial" panose="020B0604020202020204" pitchFamily="34" charset="0"/>
              <a:buChar char="•"/>
            </a:pPr>
            <a:r>
              <a:rPr lang="en-IN" dirty="0"/>
              <a:t>Integrate </a:t>
            </a:r>
            <a:r>
              <a:rPr lang="en-IN" b="1" dirty="0"/>
              <a:t>real-time industry skill trends</a:t>
            </a:r>
            <a:r>
              <a:rPr lang="en-IN" dirty="0"/>
              <a:t> and job-market requirements. </a:t>
            </a:r>
          </a:p>
          <a:p>
            <a:pPr marL="285750" lvl="0" indent="-285750">
              <a:buFont typeface="Arial" panose="020B0604020202020204" pitchFamily="34" charset="0"/>
              <a:buChar char="•"/>
            </a:pPr>
            <a:r>
              <a:rPr lang="en-IN" dirty="0"/>
              <a:t>Connect with </a:t>
            </a:r>
            <a:r>
              <a:rPr lang="en-IN" b="1" dirty="0"/>
              <a:t>real-world internship and job opportunity platforms</a:t>
            </a:r>
            <a:r>
              <a:rPr lang="en-IN" dirty="0"/>
              <a:t>. </a:t>
            </a:r>
          </a:p>
          <a:p>
            <a:pPr marL="285750" lvl="0" indent="-285750">
              <a:buFont typeface="Arial" panose="020B0604020202020204" pitchFamily="34" charset="0"/>
              <a:buChar char="•"/>
            </a:pPr>
            <a:r>
              <a:rPr lang="en-IN" dirty="0"/>
              <a:t>Enhance AI agents using </a:t>
            </a:r>
            <a:r>
              <a:rPr lang="en-IN" b="1" dirty="0"/>
              <a:t>advanced career knowledge graphs and RAG</a:t>
            </a:r>
            <a:r>
              <a:rPr lang="en-IN" dirty="0"/>
              <a:t>. </a:t>
            </a:r>
          </a:p>
          <a:p>
            <a:pPr marL="285750" lvl="0" indent="-285750">
              <a:buFont typeface="Arial" panose="020B0604020202020204" pitchFamily="34" charset="0"/>
              <a:buChar char="•"/>
            </a:pPr>
            <a:r>
              <a:rPr lang="en-IN" dirty="0"/>
              <a:t>Add </a:t>
            </a:r>
            <a:r>
              <a:rPr lang="en-IN" b="1" dirty="0"/>
              <a:t>multilingual and voice-based career assistance</a:t>
            </a:r>
            <a:r>
              <a:rPr lang="en-IN" dirty="0"/>
              <a:t>. </a:t>
            </a:r>
          </a:p>
          <a:p>
            <a:pPr marL="285750" lvl="0" indent="-285750">
              <a:buFont typeface="Arial" panose="020B0604020202020204" pitchFamily="34" charset="0"/>
              <a:buChar char="•"/>
            </a:pPr>
            <a:r>
              <a:rPr lang="en-IN" dirty="0"/>
              <a:t>Develop a </a:t>
            </a:r>
            <a:r>
              <a:rPr lang="en-IN" b="1" dirty="0"/>
              <a:t>mobile application</a:t>
            </a:r>
            <a:r>
              <a:rPr lang="en-IN" dirty="0"/>
              <a:t> for wider accessibility. </a:t>
            </a:r>
          </a:p>
          <a:p>
            <a:pPr marL="285750" lvl="0" indent="-285750">
              <a:buFont typeface="Arial" panose="020B0604020202020204" pitchFamily="34" charset="0"/>
              <a:buChar char="•"/>
            </a:pPr>
            <a:r>
              <a:rPr lang="en-IN" dirty="0"/>
              <a:t>Evaluate the system using </a:t>
            </a:r>
            <a:r>
              <a:rPr lang="en-IN" b="1" dirty="0"/>
              <a:t>real student profiles and industry datasets</a:t>
            </a:r>
            <a:r>
              <a:rPr lang="en-IN" dirty="0"/>
              <a:t>.</a:t>
            </a:r>
          </a:p>
          <a:p>
            <a:endParaRPr lang="en-IN" dirty="0"/>
          </a:p>
        </p:txBody>
      </p:sp>
    </p:spTree>
    <p:extLst>
      <p:ext uri="{BB962C8B-B14F-4D97-AF65-F5344CB8AC3E}">
        <p14:creationId xmlns:p14="http://schemas.microsoft.com/office/powerpoint/2010/main" val="1687609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2CAED-CC9E-6EA8-61D3-6B31AA23D62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63A3445-42C6-956D-B3BD-537E9AE8EF7D}"/>
              </a:ext>
            </a:extLst>
          </p:cNvPr>
          <p:cNvSpPr txBox="1"/>
          <p:nvPr/>
        </p:nvSpPr>
        <p:spPr>
          <a:xfrm>
            <a:off x="2615380" y="551058"/>
            <a:ext cx="7234014" cy="707886"/>
          </a:xfrm>
          <a:prstGeom prst="rect">
            <a:avLst/>
          </a:prstGeom>
          <a:noFill/>
        </p:spPr>
        <p:txBody>
          <a:bodyPr wrap="square">
            <a:spAutoFit/>
          </a:bodyPr>
          <a:lstStyle/>
          <a:p>
            <a:pPr algn="ctr"/>
            <a:r>
              <a:rPr lang="en-US" sz="4000" b="1" dirty="0"/>
              <a:t>References</a:t>
            </a:r>
          </a:p>
        </p:txBody>
      </p:sp>
      <p:pic>
        <p:nvPicPr>
          <p:cNvPr id="4" name="Picture 3">
            <a:extLst>
              <a:ext uri="{FF2B5EF4-FFF2-40B4-BE49-F238E27FC236}">
                <a16:creationId xmlns:a16="http://schemas.microsoft.com/office/drawing/2014/main" id="{1C15B37A-468B-214A-7984-7E0D155C2EC4}"/>
              </a:ext>
            </a:extLst>
          </p:cNvPr>
          <p:cNvPicPr>
            <a:picLocks noChangeAspect="1"/>
          </p:cNvPicPr>
          <p:nvPr/>
        </p:nvPicPr>
        <p:blipFill>
          <a:blip r:embed="rId3"/>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5253BEE6-EDDF-F1F3-24B3-3EAFE2A7D3E1}"/>
              </a:ext>
            </a:extLst>
          </p:cNvPr>
          <p:cNvSpPr>
            <a:spLocks noGrp="1"/>
          </p:cNvSpPr>
          <p:nvPr>
            <p:ph type="dt" sz="half" idx="10"/>
          </p:nvPr>
        </p:nvSpPr>
        <p:spPr/>
        <p:txBody>
          <a:bodyPr/>
          <a:lstStyle/>
          <a:p>
            <a:r>
              <a:rPr lang="en-US"/>
              <a:t>Date 14-08-2026</a:t>
            </a:r>
          </a:p>
        </p:txBody>
      </p:sp>
      <p:sp>
        <p:nvSpPr>
          <p:cNvPr id="6" name="Footer Placeholder 5">
            <a:extLst>
              <a:ext uri="{FF2B5EF4-FFF2-40B4-BE49-F238E27FC236}">
                <a16:creationId xmlns:a16="http://schemas.microsoft.com/office/drawing/2014/main" id="{FB09C112-2D1E-43A4-48C0-F6C9ED5E1D2D}"/>
              </a:ext>
            </a:extLst>
          </p:cNvPr>
          <p:cNvSpPr>
            <a:spLocks noGrp="1"/>
          </p:cNvSpPr>
          <p:nvPr>
            <p:ph type="ftr" sz="quarter" idx="11"/>
          </p:nvPr>
        </p:nvSpPr>
        <p:spPr/>
        <p:txBody>
          <a:bodyPr/>
          <a:lstStyle/>
          <a:p>
            <a:r>
              <a:rPr lang="en-US"/>
              <a:t>SOA Project Review-1</a:t>
            </a:r>
          </a:p>
        </p:txBody>
      </p:sp>
      <p:sp>
        <p:nvSpPr>
          <p:cNvPr id="7" name="Slide Number Placeholder 6">
            <a:extLst>
              <a:ext uri="{FF2B5EF4-FFF2-40B4-BE49-F238E27FC236}">
                <a16:creationId xmlns:a16="http://schemas.microsoft.com/office/drawing/2014/main" id="{F8F597C5-74E5-06AC-3A23-C3981AC1FA1A}"/>
              </a:ext>
            </a:extLst>
          </p:cNvPr>
          <p:cNvSpPr>
            <a:spLocks noGrp="1"/>
          </p:cNvSpPr>
          <p:nvPr>
            <p:ph type="sldNum" sz="quarter" idx="12"/>
          </p:nvPr>
        </p:nvSpPr>
        <p:spPr/>
        <p:txBody>
          <a:bodyPr/>
          <a:lstStyle/>
          <a:p>
            <a:fld id="{E639234F-78F1-4984-9C4D-D4C7AB587871}" type="slidenum">
              <a:rPr lang="en-US" smtClean="0"/>
              <a:t>13</a:t>
            </a:fld>
            <a:endParaRPr lang="en-US"/>
          </a:p>
        </p:txBody>
      </p:sp>
      <p:sp>
        <p:nvSpPr>
          <p:cNvPr id="2" name="TextBox 1">
            <a:extLst>
              <a:ext uri="{FF2B5EF4-FFF2-40B4-BE49-F238E27FC236}">
                <a16:creationId xmlns:a16="http://schemas.microsoft.com/office/drawing/2014/main" id="{5AD0A740-0409-395A-902B-0E5ABD128D86}"/>
              </a:ext>
            </a:extLst>
          </p:cNvPr>
          <p:cNvSpPr txBox="1"/>
          <p:nvPr/>
        </p:nvSpPr>
        <p:spPr>
          <a:xfrm>
            <a:off x="1439161" y="1744039"/>
            <a:ext cx="9586451" cy="3693319"/>
          </a:xfrm>
          <a:prstGeom prst="rect">
            <a:avLst/>
          </a:prstGeom>
          <a:noFill/>
        </p:spPr>
        <p:txBody>
          <a:bodyPr wrap="square" rtlCol="0">
            <a:spAutoFit/>
          </a:bodyPr>
          <a:lstStyle/>
          <a:p>
            <a:pPr marL="342900" lvl="0" indent="-342900">
              <a:buFont typeface="+mj-lt"/>
              <a:buAutoNum type="arabicPeriod"/>
            </a:pPr>
            <a:r>
              <a:rPr lang="en-IN" dirty="0"/>
              <a:t>M. Murtaza et al., </a:t>
            </a:r>
            <a:r>
              <a:rPr lang="en-IN" b="1" dirty="0"/>
              <a:t>“AI-Based Personalized E-Learning Systems: Issues, Challenges, and Solutions,”</a:t>
            </a:r>
            <a:r>
              <a:rPr lang="en-IN" dirty="0"/>
              <a:t> </a:t>
            </a:r>
            <a:r>
              <a:rPr lang="en-IN" i="1" dirty="0"/>
              <a:t>IEEE Access</a:t>
            </a:r>
            <a:r>
              <a:rPr lang="en-IN" dirty="0"/>
              <a:t>, 2022. </a:t>
            </a:r>
          </a:p>
          <a:p>
            <a:pPr marL="342900" lvl="0" indent="-342900">
              <a:buFont typeface="+mj-lt"/>
              <a:buAutoNum type="arabicPeriod"/>
            </a:pPr>
            <a:r>
              <a:rPr lang="en-IN" dirty="0"/>
              <a:t>M. Nabizadeh et al., </a:t>
            </a:r>
            <a:r>
              <a:rPr lang="en-IN" b="1" dirty="0"/>
              <a:t>“Learning Path Personalization and Recommendation Methods: A Survey of the State-of-the-Art,”</a:t>
            </a:r>
            <a:r>
              <a:rPr lang="en-IN" dirty="0"/>
              <a:t> </a:t>
            </a:r>
            <a:r>
              <a:rPr lang="en-IN" i="1" dirty="0"/>
              <a:t>Expert Systems with Applications</a:t>
            </a:r>
            <a:r>
              <a:rPr lang="en-IN" dirty="0"/>
              <a:t>, 2020. </a:t>
            </a:r>
          </a:p>
          <a:p>
            <a:pPr marL="342900" lvl="0" indent="-342900">
              <a:buFont typeface="+mj-lt"/>
              <a:buAutoNum type="arabicPeriod"/>
            </a:pPr>
            <a:r>
              <a:rPr lang="en-IN" dirty="0"/>
              <a:t>H. Luo, Y. Wang, and K. F. Hew, </a:t>
            </a:r>
            <a:r>
              <a:rPr lang="en-IN" b="1" dirty="0"/>
              <a:t>“Development and Implementation of a Generative AI-Based Personalized Recommender System to Improve Students’ Self-Regulated Learning and Academic Performance,”</a:t>
            </a:r>
            <a:r>
              <a:rPr lang="en-IN" dirty="0"/>
              <a:t> </a:t>
            </a:r>
            <a:r>
              <a:rPr lang="en-IN" i="1" dirty="0"/>
              <a:t>Computers &amp; Education</a:t>
            </a:r>
            <a:r>
              <a:rPr lang="en-IN" dirty="0"/>
              <a:t>, 2025. </a:t>
            </a:r>
          </a:p>
          <a:p>
            <a:pPr marL="342900" lvl="0" indent="-342900">
              <a:buFont typeface="+mj-lt"/>
              <a:buAutoNum type="arabicPeriod"/>
            </a:pPr>
            <a:r>
              <a:rPr lang="en-IN" b="1" dirty="0"/>
              <a:t>“Convolutional Neural Network Based Career Recommender System for Pakistani Engineering Students,”</a:t>
            </a:r>
            <a:r>
              <a:rPr lang="en-IN" dirty="0"/>
              <a:t> </a:t>
            </a:r>
            <a:r>
              <a:rPr lang="en-IN" i="1" dirty="0"/>
              <a:t>IEEE International Conference on Innovative Computing (ICIC)</a:t>
            </a:r>
            <a:r>
              <a:rPr lang="en-IN" dirty="0"/>
              <a:t>, 2021. </a:t>
            </a:r>
          </a:p>
          <a:p>
            <a:pPr marL="342900" lvl="0" indent="-342900">
              <a:buFont typeface="+mj-lt"/>
              <a:buAutoNum type="arabicPeriod"/>
            </a:pPr>
            <a:r>
              <a:rPr lang="en-IN" b="1" dirty="0"/>
              <a:t>Spring Boot &amp; Spring Cloud Documentation</a:t>
            </a:r>
            <a:r>
              <a:rPr lang="en-IN" dirty="0"/>
              <a:t>, Spring, </a:t>
            </a:r>
            <a:r>
              <a:rPr lang="en-IN" dirty="0">
                <a:hlinkClick r:id="rId4"/>
              </a:rPr>
              <a:t>https://spring.io/projects/spring-boot</a:t>
            </a:r>
            <a:r>
              <a:rPr lang="en-IN" dirty="0"/>
              <a:t> </a:t>
            </a:r>
          </a:p>
          <a:p>
            <a:pPr marL="342900" lvl="0" indent="-342900">
              <a:buFont typeface="+mj-lt"/>
              <a:buAutoNum type="arabicPeriod"/>
            </a:pPr>
            <a:r>
              <a:rPr lang="en-IN" b="1" dirty="0"/>
              <a:t>Apache Kafka Documentation</a:t>
            </a:r>
            <a:r>
              <a:rPr lang="en-IN" dirty="0"/>
              <a:t>, Apache Software Foundation, </a:t>
            </a:r>
            <a:r>
              <a:rPr lang="en-IN" dirty="0">
                <a:hlinkClick r:id="rId5"/>
              </a:rPr>
              <a:t>https://kafka.apache.org/documentation/</a:t>
            </a:r>
            <a:endParaRPr lang="en-IN" dirty="0"/>
          </a:p>
        </p:txBody>
      </p:sp>
    </p:spTree>
    <p:extLst>
      <p:ext uri="{BB962C8B-B14F-4D97-AF65-F5344CB8AC3E}">
        <p14:creationId xmlns:p14="http://schemas.microsoft.com/office/powerpoint/2010/main" val="2136759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BF9C7-8F84-42F8-E5C1-F78CBC806E4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51ECB7E-B5A2-FAB1-06CA-088743998D98}"/>
              </a:ext>
            </a:extLst>
          </p:cNvPr>
          <p:cNvSpPr txBox="1"/>
          <p:nvPr/>
        </p:nvSpPr>
        <p:spPr>
          <a:xfrm>
            <a:off x="2478993" y="3075057"/>
            <a:ext cx="7234014" cy="707886"/>
          </a:xfrm>
          <a:prstGeom prst="rect">
            <a:avLst/>
          </a:prstGeom>
          <a:noFill/>
        </p:spPr>
        <p:txBody>
          <a:bodyPr wrap="square">
            <a:spAutoFit/>
          </a:bodyPr>
          <a:lstStyle/>
          <a:p>
            <a:pPr algn="ctr"/>
            <a:r>
              <a:rPr lang="en-US" sz="4000" b="1" dirty="0"/>
              <a:t>Thank You</a:t>
            </a:r>
          </a:p>
        </p:txBody>
      </p:sp>
      <p:pic>
        <p:nvPicPr>
          <p:cNvPr id="4" name="Picture 3">
            <a:extLst>
              <a:ext uri="{FF2B5EF4-FFF2-40B4-BE49-F238E27FC236}">
                <a16:creationId xmlns:a16="http://schemas.microsoft.com/office/drawing/2014/main" id="{4C39C5E1-FC64-103D-F383-F7B4C090CEEC}"/>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F3328165-56C5-F7B8-D030-FA465C6CE73F}"/>
              </a:ext>
            </a:extLst>
          </p:cNvPr>
          <p:cNvSpPr>
            <a:spLocks noGrp="1"/>
          </p:cNvSpPr>
          <p:nvPr>
            <p:ph type="dt" sz="half" idx="10"/>
          </p:nvPr>
        </p:nvSpPr>
        <p:spPr/>
        <p:txBody>
          <a:bodyPr/>
          <a:lstStyle/>
          <a:p>
            <a:r>
              <a:rPr lang="en-US"/>
              <a:t>Date 14-08-2026</a:t>
            </a:r>
          </a:p>
        </p:txBody>
      </p:sp>
      <p:sp>
        <p:nvSpPr>
          <p:cNvPr id="6" name="Footer Placeholder 5">
            <a:extLst>
              <a:ext uri="{FF2B5EF4-FFF2-40B4-BE49-F238E27FC236}">
                <a16:creationId xmlns:a16="http://schemas.microsoft.com/office/drawing/2014/main" id="{F14A73E4-443E-E7DC-3F1B-753B7FE0EFD1}"/>
              </a:ext>
            </a:extLst>
          </p:cNvPr>
          <p:cNvSpPr>
            <a:spLocks noGrp="1"/>
          </p:cNvSpPr>
          <p:nvPr>
            <p:ph type="ftr" sz="quarter" idx="11"/>
          </p:nvPr>
        </p:nvSpPr>
        <p:spPr/>
        <p:txBody>
          <a:bodyPr/>
          <a:lstStyle/>
          <a:p>
            <a:r>
              <a:rPr lang="en-US"/>
              <a:t>SOA Project Review-1</a:t>
            </a:r>
          </a:p>
        </p:txBody>
      </p:sp>
      <p:sp>
        <p:nvSpPr>
          <p:cNvPr id="7" name="Slide Number Placeholder 6">
            <a:extLst>
              <a:ext uri="{FF2B5EF4-FFF2-40B4-BE49-F238E27FC236}">
                <a16:creationId xmlns:a16="http://schemas.microsoft.com/office/drawing/2014/main" id="{2B00750F-CE7D-8ABD-048D-3B094DF6252F}"/>
              </a:ext>
            </a:extLst>
          </p:cNvPr>
          <p:cNvSpPr>
            <a:spLocks noGrp="1"/>
          </p:cNvSpPr>
          <p:nvPr>
            <p:ph type="sldNum" sz="quarter" idx="12"/>
          </p:nvPr>
        </p:nvSpPr>
        <p:spPr/>
        <p:txBody>
          <a:bodyPr/>
          <a:lstStyle/>
          <a:p>
            <a:fld id="{E639234F-78F1-4984-9C4D-D4C7AB587871}" type="slidenum">
              <a:rPr lang="en-US" smtClean="0"/>
              <a:t>14</a:t>
            </a:fld>
            <a:endParaRPr lang="en-US"/>
          </a:p>
        </p:txBody>
      </p:sp>
    </p:spTree>
    <p:extLst>
      <p:ext uri="{BB962C8B-B14F-4D97-AF65-F5344CB8AC3E}">
        <p14:creationId xmlns:p14="http://schemas.microsoft.com/office/powerpoint/2010/main" val="2141486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2348</Words>
  <Application>Microsoft Office PowerPoint</Application>
  <PresentationFormat>Widescreen</PresentationFormat>
  <Paragraphs>232</Paragraphs>
  <Slides>14</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Vaishnavi Somu</cp:lastModifiedBy>
  <cp:revision>37</cp:revision>
  <dcterms:created xsi:type="dcterms:W3CDTF">2026-08-08T06:33:56Z</dcterms:created>
  <dcterms:modified xsi:type="dcterms:W3CDTF">2026-08-20T07:55:47Z</dcterms:modified>
</cp:coreProperties>
</file>